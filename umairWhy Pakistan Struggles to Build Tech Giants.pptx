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tableStyles+xml" PartName="/ppt/tableStyles1.xml"/>
  <Override ContentType="application/vnd.openxmlformats-officedocument.presentationml.slideMaster+xml" PartName="/ppt/slideMasters/slideMaster1.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1.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y="6858000" cx="12192000"/>
  <p:notesSz cx="6858000" cy="9144000"/>
  <p:defaultTextStyle>
    <a:defPPr lvl="0">
      <a:defRPr lang="en-US"/>
    </a:defPPr>
    <a:lvl1pPr defTabSz="914400" eaLnBrk="1" hangingPunct="1" latinLnBrk="0" lvl="0" marL="0" rtl="0" algn="l">
      <a:defRPr kern="1200" sz="1800">
        <a:solidFill>
          <a:schemeClr val="tx1"/>
        </a:solidFill>
        <a:latin typeface="+mn-lt"/>
        <a:ea typeface="+mn-ea"/>
        <a:cs typeface="+mn-cs"/>
      </a:defRPr>
    </a:lvl1pPr>
    <a:lvl2pPr defTabSz="914400" eaLnBrk="1" hangingPunct="1" latinLnBrk="0" lvl="1" marL="457200" rtl="0" algn="l">
      <a:defRPr kern="1200" sz="1800">
        <a:solidFill>
          <a:schemeClr val="tx1"/>
        </a:solidFill>
        <a:latin typeface="+mn-lt"/>
        <a:ea typeface="+mn-ea"/>
        <a:cs typeface="+mn-cs"/>
      </a:defRPr>
    </a:lvl2pPr>
    <a:lvl3pPr defTabSz="914400" eaLnBrk="1" hangingPunct="1" latinLnBrk="0" lvl="2" marL="914400" rtl="0" algn="l">
      <a:defRPr kern="1200" sz="1800">
        <a:solidFill>
          <a:schemeClr val="tx1"/>
        </a:solidFill>
        <a:latin typeface="+mn-lt"/>
        <a:ea typeface="+mn-ea"/>
        <a:cs typeface="+mn-cs"/>
      </a:defRPr>
    </a:lvl3pPr>
    <a:lvl4pPr defTabSz="914400" eaLnBrk="1" hangingPunct="1" latinLnBrk="0" lvl="3" marL="1371600" rtl="0" algn="l">
      <a:defRPr kern="1200" sz="1800">
        <a:solidFill>
          <a:schemeClr val="tx1"/>
        </a:solidFill>
        <a:latin typeface="+mn-lt"/>
        <a:ea typeface="+mn-ea"/>
        <a:cs typeface="+mn-cs"/>
      </a:defRPr>
    </a:lvl4pPr>
    <a:lvl5pPr defTabSz="914400" eaLnBrk="1" hangingPunct="1" latinLnBrk="0" lvl="4" marL="1828800" rtl="0" algn="l">
      <a:defRPr kern="1200" sz="1800">
        <a:solidFill>
          <a:schemeClr val="tx1"/>
        </a:solidFill>
        <a:latin typeface="+mn-lt"/>
        <a:ea typeface="+mn-ea"/>
        <a:cs typeface="+mn-cs"/>
      </a:defRPr>
    </a:lvl5pPr>
    <a:lvl6pPr defTabSz="914400" eaLnBrk="1" hangingPunct="1" latinLnBrk="0" lvl="5" marL="2286000" rtl="0" algn="l">
      <a:defRPr kern="1200" sz="1800">
        <a:solidFill>
          <a:schemeClr val="tx1"/>
        </a:solidFill>
        <a:latin typeface="+mn-lt"/>
        <a:ea typeface="+mn-ea"/>
        <a:cs typeface="+mn-cs"/>
      </a:defRPr>
    </a:lvl6pPr>
    <a:lvl7pPr defTabSz="914400" eaLnBrk="1" hangingPunct="1" latinLnBrk="0" lvl="6" marL="2743200" rtl="0" algn="l">
      <a:defRPr kern="1200" sz="1800">
        <a:solidFill>
          <a:schemeClr val="tx1"/>
        </a:solidFill>
        <a:latin typeface="+mn-lt"/>
        <a:ea typeface="+mn-ea"/>
        <a:cs typeface="+mn-cs"/>
      </a:defRPr>
    </a:lvl7pPr>
    <a:lvl8pPr defTabSz="914400" eaLnBrk="1" hangingPunct="1" latinLnBrk="0" lvl="7" marL="3200400" rtl="0" algn="l">
      <a:defRPr kern="1200" sz="1800">
        <a:solidFill>
          <a:schemeClr val="tx1"/>
        </a:solidFill>
        <a:latin typeface="+mn-lt"/>
        <a:ea typeface="+mn-ea"/>
        <a:cs typeface="+mn-cs"/>
      </a:defRPr>
    </a:lvl8pPr>
    <a:lvl9pPr defTabSz="914400" eaLnBrk="1" hangingPunct="1" latinLnBrk="0" lvl="8" marL="3657600" rtl="0" algn="l">
      <a:defRPr kern="1200" sz="1800">
        <a:solidFill>
          <a:schemeClr val="tx1"/>
        </a:solidFill>
        <a:latin typeface="+mn-lt"/>
        <a:ea typeface="+mn-ea"/>
        <a:cs typeface="+mn-cs"/>
      </a:defRPr>
    </a:lvl9pPr>
  </p:defaultTextStyle>
</p:presentation>
</file>

<file path=ppt/presProps1.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1.xml><?xml version="1.0" encoding="utf-8"?>
<a:tblStyleLst xmlns:a="http://schemas.openxmlformats.org/drawingml/2006/main" xmlns:r="http://schemas.openxmlformats.org/officeDocument/2006/relationships" def="{90651C3A-4460-11DB-9652-00E08161165F}">
  <a:tblStyle styleId="{3C2FFA5D-87B4-456A-9821-1D502468CF0F}" styleName="Themed Style 1 - Accent 1">
    <a:tblBg>
      <a:fillRef idx="2">
        <a:schemeClr val="accent1"/>
      </a:fillRef>
      <a:effectRef idx="1">
        <a:schemeClr val="accent1"/>
      </a:effectRef>
    </a:tblBg>
    <a:wholeTbl>
      <a:tcTxStyle>
        <a:fontRef idx="minor">
          <a:scrgbClr b="0" g="0" r="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b="0" g="0" r="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11" Type="http://schemas.openxmlformats.org/officeDocument/2006/relationships/slide" Target="slides/slide4.xml"/><Relationship Id="rId10" Type="http://schemas.openxmlformats.org/officeDocument/2006/relationships/slide" Target="slides/slide15.xml"/><Relationship Id="rId13" Type="http://schemas.openxmlformats.org/officeDocument/2006/relationships/slide" Target="slides/slide6.xml"/><Relationship Id="rId12" Type="http://schemas.openxmlformats.org/officeDocument/2006/relationships/slide" Target="slides/slide5.xml"/><Relationship Id="rId1" Type="http://schemas.openxmlformats.org/officeDocument/2006/relationships/theme" Target="theme/theme1.xml"/><Relationship Id="rId2" Type="http://schemas.openxmlformats.org/officeDocument/2006/relationships/presProps" Target="presProps1.xml"/><Relationship Id="rId3" Type="http://schemas.openxmlformats.org/officeDocument/2006/relationships/tableStyles" Target="tableStyles1.xml"/><Relationship Id="rId4" Type="http://schemas.openxmlformats.org/officeDocument/2006/relationships/slideMaster" Target="slideMasters/slideMaster1.xml"/><Relationship Id="rId9" Type="http://schemas.openxmlformats.org/officeDocument/2006/relationships/slide" Target="slides/slide14.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5" Type="http://schemas.openxmlformats.org/officeDocument/2006/relationships/notesMaster" Target="notesMasters/notesMaster1.xml"/><Relationship Id="rId19" Type="http://schemas.openxmlformats.org/officeDocument/2006/relationships/slide" Target="slides/slide12.xml"/><Relationship Id="rId6" Type="http://schemas.openxmlformats.org/officeDocument/2006/relationships/slide" Target="slides/slide1.xml"/><Relationship Id="rId18" Type="http://schemas.openxmlformats.org/officeDocument/2006/relationships/slide" Target="slides/slide1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 name="Shape 11"/>
        <p:cNvGrpSpPr/>
        <p:nvPr/>
      </p:nvGrpSpPr>
      <p:grpSpPr>
        <a:xfrm>
          <a:off x="0" y="0"/>
          <a:ext cx="0" cy="0"/>
          <a:chOff x="0" y="0"/>
          <a:chExt cx="0" cy="0"/>
        </a:xfrm>
      </p:grpSpPr>
      <p:sp>
        <p:nvSpPr>
          <p:cNvPr id="12" name="Google Shape;12;n"/>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 name="Google Shape;13;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rtl="0">
              <a:spcBef>
                <a:spcPts val="0"/>
              </a:spcBef>
              <a:spcAft>
                <a:spcPts val="0"/>
              </a:spcAft>
              <a:buSzPts val="1100"/>
              <a:buChar char="●"/>
              <a:defRPr sz="1100"/>
            </a:lvl1pPr>
            <a:lvl2pPr indent="-298450" lvl="1" marL="914400" rtl="0">
              <a:spcBef>
                <a:spcPts val="0"/>
              </a:spcBef>
              <a:spcAft>
                <a:spcPts val="0"/>
              </a:spcAft>
              <a:buSzPts val="1100"/>
              <a:buChar char="○"/>
              <a:defRPr sz="1100"/>
            </a:lvl2pPr>
            <a:lvl3pPr indent="-298450" lvl="2" marL="1371600" rtl="0">
              <a:spcBef>
                <a:spcPts val="0"/>
              </a:spcBef>
              <a:spcAft>
                <a:spcPts val="0"/>
              </a:spcAft>
              <a:buSzPts val="1100"/>
              <a:buChar char="■"/>
              <a:defRPr sz="1100"/>
            </a:lvl3pPr>
            <a:lvl4pPr indent="-298450" lvl="3" marL="1828800" rtl="0">
              <a:spcBef>
                <a:spcPts val="0"/>
              </a:spcBef>
              <a:spcAft>
                <a:spcPts val="0"/>
              </a:spcAft>
              <a:buSzPts val="1100"/>
              <a:buChar char="●"/>
              <a:defRPr sz="1100"/>
            </a:lvl4pPr>
            <a:lvl5pPr indent="-298450" lvl="4" marL="2286000" rtl="0">
              <a:spcBef>
                <a:spcPts val="0"/>
              </a:spcBef>
              <a:spcAft>
                <a:spcPts val="0"/>
              </a:spcAft>
              <a:buSzPts val="1100"/>
              <a:buChar char="○"/>
              <a:defRPr sz="1100"/>
            </a:lvl5pPr>
            <a:lvl6pPr indent="-298450" lvl="5" marL="2743200" rtl="0">
              <a:spcBef>
                <a:spcPts val="0"/>
              </a:spcBef>
              <a:spcAft>
                <a:spcPts val="0"/>
              </a:spcAft>
              <a:buSzPts val="1100"/>
              <a:buChar char="■"/>
              <a:defRPr sz="1100"/>
            </a:lvl6pPr>
            <a:lvl7pPr indent="-298450" lvl="6" marL="3200400" rtl="0">
              <a:spcBef>
                <a:spcPts val="0"/>
              </a:spcBef>
              <a:spcAft>
                <a:spcPts val="0"/>
              </a:spcAft>
              <a:buSzPts val="1100"/>
              <a:buChar char="●"/>
              <a:defRPr sz="1100"/>
            </a:lvl7pPr>
            <a:lvl8pPr indent="-298450" lvl="7" marL="3657600" rtl="0">
              <a:spcBef>
                <a:spcPts val="0"/>
              </a:spcBef>
              <a:spcAft>
                <a:spcPts val="0"/>
              </a:spcAft>
              <a:buSzPts val="1100"/>
              <a:buChar char="○"/>
              <a:defRPr sz="1100"/>
            </a:lvl8pPr>
            <a:lvl9pPr indent="-298450" lvl="8" marL="4114800" rtl="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 name="Shape 14"/>
        <p:cNvGrpSpPr/>
        <p:nvPr/>
      </p:nvGrpSpPr>
      <p:grpSpPr>
        <a:xfrm>
          <a:off x="0" y="0"/>
          <a:ext cx="0" cy="0"/>
          <a:chOff x="0" y="0"/>
          <a:chExt cx="0" cy="0"/>
        </a:xfrm>
      </p:grpSpPr>
      <p:sp>
        <p:nvSpPr>
          <p:cNvPr id="15" name="Google Shape;15;g68f2f7765d911b8b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 name="Google Shape;16;g68f2f7765d911b8b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 name="Shape 22"/>
        <p:cNvGrpSpPr/>
        <p:nvPr/>
      </p:nvGrpSpPr>
      <p:grpSpPr>
        <a:xfrm>
          <a:off x="0" y="0"/>
          <a:ext cx="0" cy="0"/>
          <a:chOff x="0" y="0"/>
          <a:chExt cx="0" cy="0"/>
        </a:xfrm>
      </p:grpSpPr>
      <p:sp>
        <p:nvSpPr>
          <p:cNvPr id="23" name="Google Shape;23;g68f2f7765d911b8b_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 name="Google Shape;24;g68f2f7765d911b8b_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2225BBED-7881-4FB4-9D80-05BEC1F94980}" type="datetimeFigureOut">
              <a:rPr lang="en-US" smtClean="0"/>
              <a:t>6/2/2025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22B2198-3B29-43AA-BF57-30D4B09BABAA}" type="slidenum">
              <a:rPr lang="en-US" smtClean="0"/>
              <a:t>‹#›</a:t>
            </a:fld>
            <a:endParaRPr lang="en-US"/>
          </a:p>
        </p:txBody>
      </p:sp>
    </p:spTree>
    <p:extLst>
      <p:ext uri="{BB962C8B-B14F-4D97-AF65-F5344CB8AC3E}">
        <p14:creationId xmlns:p14="http://schemas.microsoft.com/office/powerpoint/2010/main" val="28224419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225BBED-7881-4FB4-9D80-05BEC1F94980}" type="datetimeFigureOut">
              <a:rPr lang="en-US" smtClean="0"/>
              <a:t>6/2/2025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22B2198-3B29-43AA-BF57-30D4B09BABAA}" type="slidenum">
              <a:rPr lang="en-US" smtClean="0"/>
              <a:t>‹#›</a:t>
            </a:fld>
            <a:endParaRPr lang="en-US"/>
          </a:p>
        </p:txBody>
      </p:sp>
    </p:spTree>
    <p:extLst>
      <p:ext uri="{BB962C8B-B14F-4D97-AF65-F5344CB8AC3E}">
        <p14:creationId xmlns:p14="http://schemas.microsoft.com/office/powerpoint/2010/main" val="21707926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2225BBED-7881-4FB4-9D80-05BEC1F94980}" type="datetimeFigureOut">
              <a:rPr lang="en-US" smtClean="0"/>
              <a:t>6/2/2025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22B2198-3B29-43AA-BF57-30D4B09BABAA}" type="slidenum">
              <a:rPr lang="en-US" smtClean="0"/>
              <a:t>‹#›</a:t>
            </a:fld>
            <a:endParaRPr lang="en-US"/>
          </a:p>
        </p:txBody>
      </p:sp>
    </p:spTree>
    <p:extLst>
      <p:ext uri="{BB962C8B-B14F-4D97-AF65-F5344CB8AC3E}">
        <p14:creationId xmlns:p14="http://schemas.microsoft.com/office/powerpoint/2010/main" val="29897743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2225BBED-7881-4FB4-9D80-05BEC1F94980}" type="datetimeFigureOut">
              <a:rPr lang="en-US" smtClean="0"/>
              <a:t>6/2/2025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22B2198-3B29-43AA-BF57-30D4B09BABAA}" type="slidenum">
              <a:rPr lang="en-US" smtClean="0"/>
              <a:t>‹#›</a:t>
            </a:fld>
            <a:endParaRPr lang="en-US"/>
          </a:p>
        </p:txBody>
      </p:sp>
    </p:spTree>
    <p:extLst>
      <p:ext uri="{BB962C8B-B14F-4D97-AF65-F5344CB8AC3E}">
        <p14:creationId xmlns:p14="http://schemas.microsoft.com/office/powerpoint/2010/main" val="38994965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2225BBED-7881-4FB4-9D80-05BEC1F94980}" type="datetimeFigureOut">
              <a:rPr lang="en-US" smtClean="0"/>
              <a:t>6/2/2025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22B2198-3B29-43AA-BF57-30D4B09BABAA}" type="slidenum">
              <a:rPr lang="en-US" smtClean="0"/>
              <a:t>‹#›</a:t>
            </a:fld>
            <a:endParaRPr lang="en-US"/>
          </a:p>
        </p:txBody>
      </p:sp>
    </p:spTree>
    <p:extLst>
      <p:ext uri="{BB962C8B-B14F-4D97-AF65-F5344CB8AC3E}">
        <p14:creationId xmlns:p14="http://schemas.microsoft.com/office/powerpoint/2010/main" val="33956476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2225BBED-7881-4FB4-9D80-05BEC1F94980}" type="datetimeFigureOut">
              <a:rPr lang="en-US" smtClean="0"/>
              <a:t>6/2/2025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22B2198-3B29-43AA-BF57-30D4B09BABAA}" type="slidenum">
              <a:rPr lang="en-US" smtClean="0"/>
              <a:t>‹#›</a:t>
            </a:fld>
            <a:endParaRPr lang="en-US"/>
          </a:p>
        </p:txBody>
      </p:sp>
    </p:spTree>
    <p:extLst>
      <p:ext uri="{BB962C8B-B14F-4D97-AF65-F5344CB8AC3E}">
        <p14:creationId xmlns:p14="http://schemas.microsoft.com/office/powerpoint/2010/main" val="14754323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225BBED-7881-4FB4-9D80-05BEC1F94980}" type="datetimeFigureOut">
              <a:rPr lang="en-US" smtClean="0"/>
              <a:t>6/2/2025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22B2198-3B29-43AA-BF57-30D4B09BABAA}" type="slidenum">
              <a:rPr lang="en-US" smtClean="0"/>
              <a:t>‹#›</a:t>
            </a:fld>
            <a:endParaRPr lang="en-US"/>
          </a:p>
        </p:txBody>
      </p:sp>
    </p:spTree>
    <p:extLst>
      <p:ext uri="{BB962C8B-B14F-4D97-AF65-F5344CB8AC3E}">
        <p14:creationId xmlns:p14="http://schemas.microsoft.com/office/powerpoint/2010/main" val="10820042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2225BBED-7881-4FB4-9D80-05BEC1F94980}" type="datetimeFigureOut">
              <a:rPr lang="en-US" smtClean="0"/>
              <a:t>6/2/2025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22B2198-3B29-43AA-BF57-30D4B09BABAA}" type="slidenum">
              <a:rPr lang="en-US" smtClean="0"/>
              <a:t>‹#›</a:t>
            </a:fld>
            <a:endParaRPr lang="en-US"/>
          </a:p>
        </p:txBody>
      </p:sp>
    </p:spTree>
    <p:extLst>
      <p:ext uri="{BB962C8B-B14F-4D97-AF65-F5344CB8AC3E}">
        <p14:creationId xmlns:p14="http://schemas.microsoft.com/office/powerpoint/2010/main" val="12449653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2225BBED-7881-4FB4-9D80-05BEC1F94980}" type="datetimeFigureOut">
              <a:rPr lang="en-US" smtClean="0"/>
              <a:t>6/2/2025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22B2198-3B29-43AA-BF57-30D4B09BABAA}" type="slidenum">
              <a:rPr lang="en-US" smtClean="0"/>
              <a:t>‹#›</a:t>
            </a:fld>
            <a:endParaRPr lang="en-US"/>
          </a:p>
        </p:txBody>
      </p:sp>
    </p:spTree>
    <p:extLst>
      <p:ext uri="{BB962C8B-B14F-4D97-AF65-F5344CB8AC3E}">
        <p14:creationId xmlns:p14="http://schemas.microsoft.com/office/powerpoint/2010/main" val="24471707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225BBED-7881-4FB4-9D80-05BEC1F94980}" type="datetimeFigureOut">
              <a:rPr lang="en-US" smtClean="0"/>
              <a:t>6/2/2025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22B2198-3B29-43AA-BF57-30D4B09BABAA}" type="slidenum">
              <a:rPr lang="en-US" smtClean="0"/>
              <a:t>‹#›</a:t>
            </a:fld>
            <a:endParaRPr lang="en-US"/>
          </a:p>
        </p:txBody>
      </p:sp>
    </p:spTree>
    <p:extLst>
      <p:ext uri="{BB962C8B-B14F-4D97-AF65-F5344CB8AC3E}">
        <p14:creationId xmlns:p14="http://schemas.microsoft.com/office/powerpoint/2010/main" val="744296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225BBED-7881-4FB4-9D80-05BEC1F94980}" type="datetimeFigureOut">
              <a:rPr lang="en-US" smtClean="0"/>
              <a:t>6/2/2025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22B2198-3B29-43AA-BF57-30D4B09BABAA}" type="slidenum">
              <a:rPr lang="en-US" smtClean="0"/>
              <a:t>‹#›</a:t>
            </a:fld>
            <a:endParaRPr lang="en-US"/>
          </a:p>
        </p:txBody>
      </p:sp>
    </p:spTree>
    <p:extLst>
      <p:ext uri="{BB962C8B-B14F-4D97-AF65-F5344CB8AC3E}">
        <p14:creationId xmlns:p14="http://schemas.microsoft.com/office/powerpoint/2010/main" val="17493982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225BBED-7881-4FB4-9D80-05BEC1F94980}" type="datetimeFigureOut">
              <a:rPr lang="en-US" smtClean="0"/>
              <a:t>6/2/2025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22B2198-3B29-43AA-BF57-30D4B09BABAA}" type="slidenum">
              <a:rPr lang="en-US" smtClean="0"/>
              <a:t>‹#›</a:t>
            </a:fld>
            <a:endParaRPr lang="en-US"/>
          </a:p>
        </p:txBody>
      </p:sp>
    </p:spTree>
    <p:extLst>
      <p:ext uri="{BB962C8B-B14F-4D97-AF65-F5344CB8AC3E}">
        <p14:creationId xmlns:p14="http://schemas.microsoft.com/office/powerpoint/2010/main" val="204722856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8868" y="3722914"/>
            <a:ext cx="9144000" cy="2573383"/>
          </a:xfrm>
        </p:spPr>
        <p:txBody>
          <a:bodyPr>
            <a:normAutofit fontScale="90000"/>
          </a:bodyPr>
          <a:lstStyle/>
          <a:p>
            <a:r>
              <a:rPr lang="en-US" sz="3200" dirty="0" smtClean="0"/>
              <a:t>Why </a:t>
            </a:r>
            <a:r>
              <a:rPr lang="en-US" sz="3200" dirty="0"/>
              <a:t>Pakistan Struggles to Build Tech Giants: Investigating the Role of University </a:t>
            </a:r>
            <a:r>
              <a:rPr lang="en-US" sz="3200" dirty="0" smtClean="0"/>
              <a:t>Education</a:t>
            </a:r>
            <a:br>
              <a:rPr lang="en-US" sz="3200" dirty="0" smtClean="0"/>
            </a:br>
            <a:r>
              <a:rPr lang="en-US" sz="3200" dirty="0" smtClean="0"/>
              <a:t/>
            </a:r>
            <a:br>
              <a:rPr lang="en-US" sz="3200" dirty="0" smtClean="0"/>
            </a:br>
            <a:r>
              <a:rPr lang="en-US" sz="3200" dirty="0" smtClean="0"/>
              <a:t>A </a:t>
            </a:r>
            <a:r>
              <a:rPr lang="en-US" sz="3200" dirty="0"/>
              <a:t>Student </a:t>
            </a:r>
            <a:r>
              <a:rPr lang="en-US" sz="3200" dirty="0" smtClean="0"/>
              <a:t>Perspective</a:t>
            </a:r>
            <a:br>
              <a:rPr lang="en-US" sz="3200" dirty="0" smtClean="0"/>
            </a:br>
            <a:r>
              <a:rPr lang="en-US" sz="3200" dirty="0" smtClean="0"/>
              <a:t/>
            </a:r>
            <a:br>
              <a:rPr lang="en-US" sz="3200" dirty="0" smtClean="0"/>
            </a:br>
            <a:r>
              <a:rPr lang="en-US" sz="3200" b="1" dirty="0" smtClean="0"/>
              <a:t>Authors:</a:t>
            </a:r>
            <a:r>
              <a:rPr lang="en-US" sz="3200" dirty="0" smtClean="0"/>
              <a:t> </a:t>
            </a:r>
            <a:r>
              <a:rPr lang="en-US" sz="3200" dirty="0" err="1" smtClean="0"/>
              <a:t>Umair</a:t>
            </a:r>
            <a:r>
              <a:rPr lang="en-US" sz="3200" dirty="0" smtClean="0"/>
              <a:t> </a:t>
            </a:r>
            <a:r>
              <a:rPr lang="en-US" sz="3200" dirty="0" err="1" smtClean="0"/>
              <a:t>Solangi</a:t>
            </a:r>
            <a:r>
              <a:rPr lang="en-US" sz="3200" dirty="0" smtClean="0"/>
              <a:t>, Hamza bin Jawed</a:t>
            </a:r>
            <a:br>
              <a:rPr lang="en-US" sz="3200" dirty="0" smtClean="0"/>
            </a:br>
            <a:r>
              <a:rPr lang="en-US" sz="3200" b="1" dirty="0" smtClean="0"/>
              <a:t>Department:</a:t>
            </a:r>
            <a:r>
              <a:rPr lang="en-US" sz="3200" dirty="0" smtClean="0"/>
              <a:t> Computer Science, SZABIST Karachi</a:t>
            </a:r>
            <a:r>
              <a:rPr lang="en-US" sz="3200" dirty="0"/>
              <a:t/>
            </a:r>
            <a:br>
              <a:rPr lang="en-US" sz="3200" dirty="0"/>
            </a:br>
            <a:r>
              <a:rPr lang="en-US" sz="3200" dirty="0" smtClean="0"/>
              <a:t/>
            </a:r>
            <a:br>
              <a:rPr lang="en-US" sz="3200" dirty="0" smtClean="0"/>
            </a:br>
            <a:r>
              <a:rPr lang="en-US" sz="3200" dirty="0"/>
              <a:t/>
            </a:r>
            <a:br>
              <a:rPr lang="en-US" sz="3200" dirty="0"/>
            </a:br>
            <a:r>
              <a:rPr lang="en-US" sz="3200" dirty="0" smtClean="0"/>
              <a:t/>
            </a:r>
            <a:br>
              <a:rPr lang="en-US" sz="3200" dirty="0" smtClean="0"/>
            </a:br>
            <a:r>
              <a:rPr lang="en-US" sz="2200" dirty="0" smtClean="0"/>
              <a:t>How effectively does university education in Pakistan equip computer science graduates with the practical skills and knowledge required to develop scalable tech products, and what are the key gaps between academic training and industry demands?</a:t>
            </a:r>
            <a:br>
              <a:rPr lang="en-US" sz="2200" dirty="0" smtClean="0"/>
            </a:br>
            <a:r>
              <a:rPr lang="en-US" sz="2200" dirty="0"/>
              <a:t/>
            </a:r>
            <a:br>
              <a:rPr lang="en-US" sz="2200" dirty="0"/>
            </a:br>
            <a:r>
              <a:rPr lang="en-US" sz="3200" dirty="0" smtClean="0"/>
              <a:t/>
            </a:r>
            <a:br>
              <a:rPr lang="en-US" sz="3200" dirty="0" smtClean="0"/>
            </a:br>
            <a:endParaRPr lang="en-US" sz="3200" dirty="0"/>
          </a:p>
        </p:txBody>
      </p:sp>
    </p:spTree>
    <p:extLst>
      <p:ext uri="{BB962C8B-B14F-4D97-AF65-F5344CB8AC3E}">
        <p14:creationId xmlns:p14="http://schemas.microsoft.com/office/powerpoint/2010/main" val="34423845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Introduction</a:t>
            </a:r>
            <a:r>
              <a:rPr lang="en-US" dirty="0"/>
              <a:t/>
            </a:r>
            <a:br>
              <a:rPr lang="en-US" dirty="0"/>
            </a:br>
            <a:endParaRPr lang="en-US" dirty="0"/>
          </a:p>
        </p:txBody>
      </p:sp>
      <p:sp>
        <p:nvSpPr>
          <p:cNvPr id="3" name="Content Placeholder 2"/>
          <p:cNvSpPr>
            <a:spLocks noGrp="1"/>
          </p:cNvSpPr>
          <p:nvPr>
            <p:ph idx="1"/>
          </p:nvPr>
        </p:nvSpPr>
        <p:spPr/>
        <p:txBody>
          <a:bodyPr/>
          <a:lstStyle/>
          <a:p>
            <a:r>
              <a:rPr lang="en-US" b="1" dirty="0" smtClean="0"/>
              <a:t>Problem </a:t>
            </a:r>
            <a:r>
              <a:rPr lang="en-US" b="1" dirty="0"/>
              <a:t>Statement:</a:t>
            </a:r>
            <a:endParaRPr lang="en-US" dirty="0"/>
          </a:p>
          <a:p>
            <a:pPr lvl="1"/>
            <a:r>
              <a:rPr lang="en-US" dirty="0"/>
              <a:t>Pakistan produces thousands of CS graduates yearly, but few contribute to global tech innovation.</a:t>
            </a:r>
          </a:p>
          <a:p>
            <a:pPr lvl="1"/>
            <a:r>
              <a:rPr lang="en-US" dirty="0"/>
              <a:t>Universities focus on outdated curricula, lack industry alignment, and provide minimal practical exposure.</a:t>
            </a:r>
          </a:p>
          <a:p>
            <a:r>
              <a:rPr lang="en-US" b="1" dirty="0"/>
              <a:t>Objective:</a:t>
            </a:r>
            <a:endParaRPr lang="en-US" dirty="0"/>
          </a:p>
          <a:p>
            <a:pPr lvl="1"/>
            <a:r>
              <a:rPr lang="en-US" dirty="0"/>
              <a:t>Evaluate CS education quality through student perspectives.</a:t>
            </a:r>
          </a:p>
          <a:p>
            <a:pPr lvl="1"/>
            <a:r>
              <a:rPr lang="en-US" dirty="0"/>
              <a:t>Identify gaps in curriculum, faculty, internships, and entrepreneurship support.</a:t>
            </a:r>
          </a:p>
          <a:p>
            <a:endParaRPr lang="en-US" dirty="0"/>
          </a:p>
        </p:txBody>
      </p:sp>
    </p:spTree>
    <p:extLst>
      <p:ext uri="{BB962C8B-B14F-4D97-AF65-F5344CB8AC3E}">
        <p14:creationId xmlns:p14="http://schemas.microsoft.com/office/powerpoint/2010/main" val="23570640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51263" y="574130"/>
            <a:ext cx="10515600" cy="1325563"/>
          </a:xfrm>
        </p:spPr>
        <p:txBody>
          <a:bodyPr>
            <a:normAutofit/>
          </a:bodyPr>
          <a:lstStyle/>
          <a:p>
            <a:r>
              <a:rPr lang="en-US" b="1" dirty="0"/>
              <a:t>Research Questions</a:t>
            </a:r>
            <a:r>
              <a:rPr lang="en-US" dirty="0"/>
              <a:t/>
            </a:r>
            <a:br>
              <a:rPr lang="en-US" dirty="0"/>
            </a:br>
            <a:endParaRPr lang="en-US" sz="3100" b="1" dirty="0"/>
          </a:p>
        </p:txBody>
      </p:sp>
      <p:sp>
        <p:nvSpPr>
          <p:cNvPr id="3" name="Content Placeholder 2"/>
          <p:cNvSpPr>
            <a:spLocks noGrp="1"/>
          </p:cNvSpPr>
          <p:nvPr>
            <p:ph idx="1"/>
          </p:nvPr>
        </p:nvSpPr>
        <p:spPr>
          <a:xfrm>
            <a:off x="851263" y="2256699"/>
            <a:ext cx="10515600" cy="4351338"/>
          </a:xfrm>
        </p:spPr>
        <p:txBody>
          <a:bodyPr/>
          <a:lstStyle/>
          <a:p>
            <a:r>
              <a:rPr lang="en-US" dirty="0"/>
              <a:t>Is the CS curriculum aligned with industry needs?</a:t>
            </a:r>
          </a:p>
          <a:p>
            <a:r>
              <a:rPr lang="en-US" dirty="0"/>
              <a:t>Do students receive adequate practical training?</a:t>
            </a:r>
          </a:p>
          <a:p>
            <a:r>
              <a:rPr lang="en-US" dirty="0"/>
              <a:t>Are faculty members industry-experienced?</a:t>
            </a:r>
          </a:p>
          <a:p>
            <a:r>
              <a:rPr lang="en-US" dirty="0"/>
              <a:t>How accessible are internships and entrepreneurial support?</a:t>
            </a:r>
          </a:p>
          <a:p>
            <a:r>
              <a:rPr lang="en-US" dirty="0"/>
              <a:t>Are there differences between public (NED) and private (SZABIST) universities?</a:t>
            </a:r>
          </a:p>
          <a:p>
            <a:endParaRPr lang="en-US" dirty="0"/>
          </a:p>
        </p:txBody>
      </p:sp>
    </p:spTree>
    <p:extLst>
      <p:ext uri="{BB962C8B-B14F-4D97-AF65-F5344CB8AC3E}">
        <p14:creationId xmlns:p14="http://schemas.microsoft.com/office/powerpoint/2010/main" val="15077900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Methodology</a:t>
            </a:r>
            <a:r>
              <a:rPr lang="en-US" dirty="0"/>
              <a:t/>
            </a:r>
            <a:br>
              <a:rPr lang="en-US" dirty="0"/>
            </a:br>
            <a:endParaRPr lang="en-US" dirty="0"/>
          </a:p>
        </p:txBody>
      </p:sp>
      <p:sp>
        <p:nvSpPr>
          <p:cNvPr id="3" name="Content Placeholder 2"/>
          <p:cNvSpPr>
            <a:spLocks noGrp="1"/>
          </p:cNvSpPr>
          <p:nvPr>
            <p:ph idx="1"/>
          </p:nvPr>
        </p:nvSpPr>
        <p:spPr/>
        <p:txBody>
          <a:bodyPr/>
          <a:lstStyle/>
          <a:p>
            <a:r>
              <a:rPr lang="en-US" b="1" dirty="0"/>
              <a:t>Sample:</a:t>
            </a:r>
            <a:r>
              <a:rPr lang="en-US" dirty="0"/>
              <a:t> 72 final-year CS students (NED: 52, SZABIST: 19, Urdu University: 1).</a:t>
            </a:r>
          </a:p>
          <a:p>
            <a:r>
              <a:rPr lang="en-US" b="1" dirty="0"/>
              <a:t>Data Collection:</a:t>
            </a:r>
            <a:r>
              <a:rPr lang="en-US" dirty="0"/>
              <a:t> Structured survey (Likert scales, multiple-choice, open-ended questions).</a:t>
            </a:r>
          </a:p>
          <a:p>
            <a:r>
              <a:rPr lang="en-US" b="1" dirty="0"/>
              <a:t>Analysis:</a:t>
            </a:r>
            <a:r>
              <a:rPr lang="en-US" dirty="0"/>
              <a:t> Descriptive statistics, comparative analysis (NED vs. SZABIST).</a:t>
            </a:r>
          </a:p>
          <a:p>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13593" y="4153989"/>
            <a:ext cx="3969921" cy="2567216"/>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06081" y="4131923"/>
            <a:ext cx="4306571" cy="2589282"/>
          </a:xfrm>
          <a:prstGeom prst="rect">
            <a:avLst/>
          </a:prstGeom>
        </p:spPr>
      </p:pic>
    </p:spTree>
    <p:extLst>
      <p:ext uri="{BB962C8B-B14F-4D97-AF65-F5344CB8AC3E}">
        <p14:creationId xmlns:p14="http://schemas.microsoft.com/office/powerpoint/2010/main" val="155023596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Key Findings (Curriculum)</a:t>
            </a:r>
            <a:r>
              <a:rPr lang="en-US" dirty="0"/>
              <a:t/>
            </a:r>
            <a:br>
              <a:rPr lang="en-US" dirty="0"/>
            </a:br>
            <a:endParaRPr lang="en-US" dirty="0"/>
          </a:p>
        </p:txBody>
      </p:sp>
      <p:sp>
        <p:nvSpPr>
          <p:cNvPr id="3" name="Content Placeholder 2"/>
          <p:cNvSpPr>
            <a:spLocks noGrp="1"/>
          </p:cNvSpPr>
          <p:nvPr>
            <p:ph idx="1"/>
          </p:nvPr>
        </p:nvSpPr>
        <p:spPr/>
        <p:txBody>
          <a:bodyPr/>
          <a:lstStyle/>
          <a:p>
            <a:r>
              <a:rPr lang="en-US" b="1" dirty="0"/>
              <a:t>Outdated Content:</a:t>
            </a:r>
            <a:r>
              <a:rPr lang="en-US" dirty="0"/>
              <a:t> 65% report rare/never updates.</a:t>
            </a:r>
          </a:p>
          <a:p>
            <a:r>
              <a:rPr lang="en-US" b="1" dirty="0"/>
              <a:t>Low Relevance:</a:t>
            </a:r>
            <a:r>
              <a:rPr lang="en-US" dirty="0"/>
              <a:t> Avg. rating 2.8/5 for job market alignment.</a:t>
            </a:r>
          </a:p>
          <a:p>
            <a:r>
              <a:rPr lang="en-US" b="1" dirty="0"/>
              <a:t>SZABIST vs. NED:</a:t>
            </a:r>
            <a:r>
              <a:rPr lang="en-US" dirty="0"/>
              <a:t> SZABIST rated higher (3.1 vs. 2.7).</a:t>
            </a:r>
          </a:p>
          <a:p>
            <a:r>
              <a:rPr lang="en-US" b="1" dirty="0"/>
              <a:t>Student Demand:</a:t>
            </a:r>
            <a:r>
              <a:rPr lang="en-US" dirty="0"/>
              <a:t> AI, </a:t>
            </a:r>
            <a:r>
              <a:rPr lang="en-US" dirty="0" err="1"/>
              <a:t>Blockchain</a:t>
            </a:r>
            <a:r>
              <a:rPr lang="en-US" dirty="0"/>
              <a:t>, DevOps missing.</a:t>
            </a:r>
          </a:p>
          <a:p>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28412" y="4001294"/>
            <a:ext cx="4591691" cy="2819794"/>
          </a:xfrm>
          <a:prstGeom prst="rect">
            <a:avLst/>
          </a:prstGeom>
        </p:spPr>
      </p:pic>
    </p:spTree>
    <p:extLst>
      <p:ext uri="{BB962C8B-B14F-4D97-AF65-F5344CB8AC3E}">
        <p14:creationId xmlns:p14="http://schemas.microsoft.com/office/powerpoint/2010/main" val="419810166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Key Findings (Faculty &amp; Teaching)</a:t>
            </a:r>
            <a:r>
              <a:rPr lang="en-US" dirty="0"/>
              <a:t/>
            </a:r>
            <a:br>
              <a:rPr lang="en-US" dirty="0"/>
            </a:br>
            <a:endParaRPr lang="en-US" dirty="0"/>
          </a:p>
        </p:txBody>
      </p:sp>
      <p:sp>
        <p:nvSpPr>
          <p:cNvPr id="3" name="Content Placeholder 2"/>
          <p:cNvSpPr>
            <a:spLocks noGrp="1"/>
          </p:cNvSpPr>
          <p:nvPr>
            <p:ph idx="1"/>
          </p:nvPr>
        </p:nvSpPr>
        <p:spPr/>
        <p:txBody>
          <a:bodyPr/>
          <a:lstStyle/>
          <a:p>
            <a:r>
              <a:rPr lang="en-US" b="1" dirty="0"/>
              <a:t>Faculty Industry Experience:</a:t>
            </a:r>
            <a:r>
              <a:rPr lang="en-US" dirty="0"/>
              <a:t> Avg. 3.1/5.</a:t>
            </a:r>
          </a:p>
          <a:p>
            <a:r>
              <a:rPr lang="en-US" b="1" dirty="0"/>
              <a:t>Theory-Heavy:</a:t>
            </a:r>
            <a:r>
              <a:rPr lang="en-US" dirty="0"/>
              <a:t> 75% say lectures lack practical labs.</a:t>
            </a:r>
          </a:p>
          <a:p>
            <a:r>
              <a:rPr lang="en-US" b="1" dirty="0"/>
              <a:t>SZABIST Advantage:</a:t>
            </a:r>
            <a:r>
              <a:rPr lang="en-US" dirty="0"/>
              <a:t> Faculty rated more helpful (3.4 vs. 3.1).</a:t>
            </a:r>
          </a:p>
          <a:p>
            <a:endParaRPr lang="en-US" dirty="0"/>
          </a:p>
        </p:txBody>
      </p:sp>
    </p:spTree>
    <p:extLst>
      <p:ext uri="{BB962C8B-B14F-4D97-AF65-F5344CB8AC3E}">
        <p14:creationId xmlns:p14="http://schemas.microsoft.com/office/powerpoint/2010/main" val="262050724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Key Findings (Practical Exposure)</a:t>
            </a:r>
            <a:endParaRPr lang="en-US" dirty="0"/>
          </a:p>
        </p:txBody>
      </p:sp>
      <p:sp>
        <p:nvSpPr>
          <p:cNvPr id="3" name="Content Placeholder 2"/>
          <p:cNvSpPr>
            <a:spLocks noGrp="1"/>
          </p:cNvSpPr>
          <p:nvPr>
            <p:ph idx="1"/>
          </p:nvPr>
        </p:nvSpPr>
        <p:spPr/>
        <p:txBody>
          <a:bodyPr/>
          <a:lstStyle/>
          <a:p>
            <a:r>
              <a:rPr lang="en-US" b="1" dirty="0" err="1"/>
              <a:t>Git</a:t>
            </a:r>
            <a:r>
              <a:rPr lang="en-US" b="1" dirty="0"/>
              <a:t> Proficiency:</a:t>
            </a:r>
            <a:r>
              <a:rPr lang="en-US" dirty="0"/>
              <a:t> Avg. 2.7/5 (60% rate themselves ≤3).</a:t>
            </a:r>
          </a:p>
          <a:p>
            <a:r>
              <a:rPr lang="en-US" b="1" dirty="0"/>
              <a:t>Internships:</a:t>
            </a:r>
            <a:r>
              <a:rPr lang="en-US" dirty="0"/>
              <a:t> 53% completed, but only 55% aligned with studies.</a:t>
            </a:r>
          </a:p>
          <a:p>
            <a:r>
              <a:rPr lang="en-US" b="1" dirty="0"/>
              <a:t>University Support:</a:t>
            </a:r>
            <a:r>
              <a:rPr lang="en-US" dirty="0"/>
              <a:t> 58% received help; 42% found none.</a:t>
            </a:r>
          </a:p>
          <a:p>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82729" y="3649650"/>
            <a:ext cx="4601217" cy="2772162"/>
          </a:xfrm>
          <a:prstGeom prst="rect">
            <a:avLst/>
          </a:prstGeom>
        </p:spPr>
      </p:pic>
    </p:spTree>
    <p:extLst>
      <p:ext uri="{BB962C8B-B14F-4D97-AF65-F5344CB8AC3E}">
        <p14:creationId xmlns:p14="http://schemas.microsoft.com/office/powerpoint/2010/main" val="296369720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Key Findings (Entrepreneurship &amp; Confidence)</a:t>
            </a:r>
            <a:endParaRPr lang="en-US" dirty="0"/>
          </a:p>
        </p:txBody>
      </p:sp>
      <p:sp>
        <p:nvSpPr>
          <p:cNvPr id="3" name="Content Placeholder 2"/>
          <p:cNvSpPr>
            <a:spLocks noGrp="1"/>
          </p:cNvSpPr>
          <p:nvPr>
            <p:ph idx="1"/>
          </p:nvPr>
        </p:nvSpPr>
        <p:spPr/>
        <p:txBody>
          <a:bodyPr/>
          <a:lstStyle/>
          <a:p>
            <a:r>
              <a:rPr lang="en-US" b="1" dirty="0"/>
              <a:t>Low Confidence:</a:t>
            </a:r>
            <a:r>
              <a:rPr lang="en-US" dirty="0"/>
              <a:t> Avg. 4.6/10 in job readiness.</a:t>
            </a:r>
          </a:p>
          <a:p>
            <a:r>
              <a:rPr lang="en-US" b="1" dirty="0"/>
              <a:t>Startup Support:</a:t>
            </a:r>
            <a:r>
              <a:rPr lang="en-US" dirty="0"/>
              <a:t> Only 15% tried launching a startup; 47% aware of incubators.</a:t>
            </a:r>
          </a:p>
          <a:p>
            <a:r>
              <a:rPr lang="en-US" b="1" dirty="0"/>
              <a:t>Barriers:</a:t>
            </a:r>
            <a:r>
              <a:rPr lang="en-US" dirty="0"/>
              <a:t> Lack of funding, mentorship, and risk-averse culture.</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48378" y="4001294"/>
            <a:ext cx="4572638" cy="2810267"/>
          </a:xfrm>
          <a:prstGeom prst="rect">
            <a:avLst/>
          </a:prstGeom>
        </p:spPr>
      </p:pic>
    </p:spTree>
    <p:extLst>
      <p:ext uri="{BB962C8B-B14F-4D97-AF65-F5344CB8AC3E}">
        <p14:creationId xmlns:p14="http://schemas.microsoft.com/office/powerpoint/2010/main" val="387338240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NED vs. SZABIST Comparison</a:t>
            </a:r>
            <a:r>
              <a:rPr lang="en-US" dirty="0"/>
              <a:t/>
            </a:r>
            <a:br>
              <a:rPr lang="en-US" dirty="0"/>
            </a:b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048359838"/>
              </p:ext>
            </p:extLst>
          </p:nvPr>
        </p:nvGraphicFramePr>
        <p:xfrm>
          <a:off x="838200" y="2839244"/>
          <a:ext cx="10515600" cy="2324100"/>
        </p:xfrm>
        <a:graphic>
          <a:graphicData uri="http://schemas.openxmlformats.org/drawingml/2006/table">
            <a:tbl>
              <a:tblPr>
                <a:tableStyleId>{3C2FFA5D-87B4-456A-9821-1D502468CF0F}</a:tableStyleId>
              </a:tblPr>
              <a:tblGrid>
                <a:gridCol w="3463718">
                  <a:extLst>
                    <a:ext uri="{9D8B030D-6E8A-4147-A177-3AD203B41FA5}">
                      <a16:colId xmlns:a16="http://schemas.microsoft.com/office/drawing/2014/main" val="2660375595"/>
                    </a:ext>
                  </a:extLst>
                </a:gridCol>
                <a:gridCol w="3525941">
                  <a:extLst>
                    <a:ext uri="{9D8B030D-6E8A-4147-A177-3AD203B41FA5}">
                      <a16:colId xmlns:a16="http://schemas.microsoft.com/office/drawing/2014/main" val="3612359471"/>
                    </a:ext>
                  </a:extLst>
                </a:gridCol>
                <a:gridCol w="3525941">
                  <a:extLst>
                    <a:ext uri="{9D8B030D-6E8A-4147-A177-3AD203B41FA5}">
                      <a16:colId xmlns:a16="http://schemas.microsoft.com/office/drawing/2014/main" val="2840442264"/>
                    </a:ext>
                  </a:extLst>
                </a:gridCol>
              </a:tblGrid>
              <a:tr h="0">
                <a:tc>
                  <a:txBody>
                    <a:bodyPr/>
                    <a:lstStyle/>
                    <a:p>
                      <a:pPr algn="l"/>
                      <a:r>
                        <a:rPr lang="en-US">
                          <a:effectLst/>
                        </a:rPr>
                        <a:t>Metric</a:t>
                      </a:r>
                      <a:endParaRPr lang="en-US" b="1">
                        <a:solidFill>
                          <a:schemeClr val="bg1"/>
                        </a:solidFill>
                        <a:effectLst/>
                      </a:endParaRPr>
                    </a:p>
                  </a:txBody>
                  <a:tcPr marR="95250" marT="95250" marB="95250" anchor="ctr"/>
                </a:tc>
                <a:tc>
                  <a:txBody>
                    <a:bodyPr/>
                    <a:lstStyle/>
                    <a:p>
                      <a:pPr algn="l"/>
                      <a:r>
                        <a:rPr lang="en-US">
                          <a:effectLst/>
                        </a:rPr>
                        <a:t>NED</a:t>
                      </a:r>
                      <a:endParaRPr lang="en-US" b="1">
                        <a:solidFill>
                          <a:schemeClr val="bg1"/>
                        </a:solidFill>
                        <a:effectLst/>
                      </a:endParaRPr>
                    </a:p>
                  </a:txBody>
                  <a:tcPr marL="95250" marR="95250" marT="95250" marB="95250" anchor="ctr"/>
                </a:tc>
                <a:tc>
                  <a:txBody>
                    <a:bodyPr/>
                    <a:lstStyle/>
                    <a:p>
                      <a:pPr algn="l"/>
                      <a:r>
                        <a:rPr lang="en-US">
                          <a:effectLst/>
                        </a:rPr>
                        <a:t>SZABIST</a:t>
                      </a:r>
                      <a:endParaRPr lang="en-US" b="1">
                        <a:solidFill>
                          <a:schemeClr val="bg1"/>
                        </a:solidFill>
                        <a:effectLst/>
                      </a:endParaRPr>
                    </a:p>
                  </a:txBody>
                  <a:tcPr marL="95250" marR="95250" marT="95250" marB="95250" anchor="ctr"/>
                </a:tc>
                <a:extLst>
                  <a:ext uri="{0D108BD9-81ED-4DB2-BD59-A6C34878D82A}">
                    <a16:rowId xmlns:a16="http://schemas.microsoft.com/office/drawing/2014/main" val="1265621895"/>
                  </a:ext>
                </a:extLst>
              </a:tr>
              <a:tr h="0">
                <a:tc>
                  <a:txBody>
                    <a:bodyPr/>
                    <a:lstStyle/>
                    <a:p>
                      <a:r>
                        <a:rPr lang="en-US">
                          <a:effectLst/>
                        </a:rPr>
                        <a:t>Curriculum Relevance</a:t>
                      </a:r>
                      <a:endParaRPr lang="en-US">
                        <a:solidFill>
                          <a:schemeClr val="bg1"/>
                        </a:solidFill>
                        <a:effectLst/>
                      </a:endParaRPr>
                    </a:p>
                  </a:txBody>
                  <a:tcPr marR="95250" marT="95250" marB="95250" anchor="ctr"/>
                </a:tc>
                <a:tc>
                  <a:txBody>
                    <a:bodyPr/>
                    <a:lstStyle/>
                    <a:p>
                      <a:r>
                        <a:rPr lang="en-US">
                          <a:effectLst/>
                        </a:rPr>
                        <a:t>2.7</a:t>
                      </a:r>
                      <a:endParaRPr lang="en-US">
                        <a:solidFill>
                          <a:schemeClr val="bg1"/>
                        </a:solidFill>
                        <a:effectLst/>
                      </a:endParaRPr>
                    </a:p>
                  </a:txBody>
                  <a:tcPr marL="95250" marR="95250" marT="95250" marB="95250" anchor="ctr"/>
                </a:tc>
                <a:tc>
                  <a:txBody>
                    <a:bodyPr/>
                    <a:lstStyle/>
                    <a:p>
                      <a:r>
                        <a:rPr lang="en-US">
                          <a:effectLst/>
                        </a:rPr>
                        <a:t>3.1</a:t>
                      </a:r>
                      <a:endParaRPr lang="en-US">
                        <a:solidFill>
                          <a:schemeClr val="bg1"/>
                        </a:solidFill>
                        <a:effectLst/>
                      </a:endParaRPr>
                    </a:p>
                  </a:txBody>
                  <a:tcPr marL="95250" marR="95250" marT="95250" marB="95250" anchor="ctr"/>
                </a:tc>
                <a:extLst>
                  <a:ext uri="{0D108BD9-81ED-4DB2-BD59-A6C34878D82A}">
                    <a16:rowId xmlns:a16="http://schemas.microsoft.com/office/drawing/2014/main" val="624457261"/>
                  </a:ext>
                </a:extLst>
              </a:tr>
              <a:tr h="0">
                <a:tc>
                  <a:txBody>
                    <a:bodyPr/>
                    <a:lstStyle/>
                    <a:p>
                      <a:r>
                        <a:rPr lang="en-US">
                          <a:effectLst/>
                        </a:rPr>
                        <a:t>Faculty Industry Exp.</a:t>
                      </a:r>
                      <a:endParaRPr lang="en-US">
                        <a:solidFill>
                          <a:schemeClr val="bg1"/>
                        </a:solidFill>
                        <a:effectLst/>
                      </a:endParaRPr>
                    </a:p>
                  </a:txBody>
                  <a:tcPr marR="95250" marT="95250" marB="95250" anchor="ctr"/>
                </a:tc>
                <a:tc>
                  <a:txBody>
                    <a:bodyPr/>
                    <a:lstStyle/>
                    <a:p>
                      <a:r>
                        <a:rPr lang="en-US">
                          <a:effectLst/>
                        </a:rPr>
                        <a:t>3.0</a:t>
                      </a:r>
                      <a:endParaRPr lang="en-US">
                        <a:solidFill>
                          <a:schemeClr val="bg1"/>
                        </a:solidFill>
                        <a:effectLst/>
                      </a:endParaRPr>
                    </a:p>
                  </a:txBody>
                  <a:tcPr marL="95250" marR="95250" marT="95250" marB="95250" anchor="ctr"/>
                </a:tc>
                <a:tc>
                  <a:txBody>
                    <a:bodyPr/>
                    <a:lstStyle/>
                    <a:p>
                      <a:r>
                        <a:rPr lang="en-US">
                          <a:effectLst/>
                        </a:rPr>
                        <a:t>3.3</a:t>
                      </a:r>
                      <a:endParaRPr lang="en-US">
                        <a:solidFill>
                          <a:schemeClr val="bg1"/>
                        </a:solidFill>
                        <a:effectLst/>
                      </a:endParaRPr>
                    </a:p>
                  </a:txBody>
                  <a:tcPr marL="95250" marR="95250" marT="95250" marB="95250" anchor="ctr"/>
                </a:tc>
                <a:extLst>
                  <a:ext uri="{0D108BD9-81ED-4DB2-BD59-A6C34878D82A}">
                    <a16:rowId xmlns:a16="http://schemas.microsoft.com/office/drawing/2014/main" val="2936166970"/>
                  </a:ext>
                </a:extLst>
              </a:tr>
              <a:tr h="0">
                <a:tc>
                  <a:txBody>
                    <a:bodyPr/>
                    <a:lstStyle/>
                    <a:p>
                      <a:r>
                        <a:rPr lang="en-US">
                          <a:effectLst/>
                        </a:rPr>
                        <a:t>Internship Support</a:t>
                      </a:r>
                      <a:endParaRPr lang="en-US">
                        <a:solidFill>
                          <a:schemeClr val="bg1"/>
                        </a:solidFill>
                        <a:effectLst/>
                      </a:endParaRPr>
                    </a:p>
                  </a:txBody>
                  <a:tcPr marR="95250" marT="95250" marB="95250" anchor="ctr"/>
                </a:tc>
                <a:tc>
                  <a:txBody>
                    <a:bodyPr/>
                    <a:lstStyle/>
                    <a:p>
                      <a:r>
                        <a:rPr lang="en-US">
                          <a:effectLst/>
                        </a:rPr>
                        <a:t>55%</a:t>
                      </a:r>
                      <a:endParaRPr lang="en-US">
                        <a:solidFill>
                          <a:schemeClr val="bg1"/>
                        </a:solidFill>
                        <a:effectLst/>
                      </a:endParaRPr>
                    </a:p>
                  </a:txBody>
                  <a:tcPr marL="95250" marR="95250" marT="95250" marB="95250" anchor="ctr"/>
                </a:tc>
                <a:tc>
                  <a:txBody>
                    <a:bodyPr/>
                    <a:lstStyle/>
                    <a:p>
                      <a:r>
                        <a:rPr lang="en-US">
                          <a:effectLst/>
                        </a:rPr>
                        <a:t>63%</a:t>
                      </a:r>
                      <a:endParaRPr lang="en-US">
                        <a:solidFill>
                          <a:schemeClr val="bg1"/>
                        </a:solidFill>
                        <a:effectLst/>
                      </a:endParaRPr>
                    </a:p>
                  </a:txBody>
                  <a:tcPr marL="95250" marR="95250" marT="95250" marB="95250" anchor="ctr"/>
                </a:tc>
                <a:extLst>
                  <a:ext uri="{0D108BD9-81ED-4DB2-BD59-A6C34878D82A}">
                    <a16:rowId xmlns:a16="http://schemas.microsoft.com/office/drawing/2014/main" val="695761104"/>
                  </a:ext>
                </a:extLst>
              </a:tr>
              <a:tr h="0">
                <a:tc>
                  <a:txBody>
                    <a:bodyPr/>
                    <a:lstStyle/>
                    <a:p>
                      <a:r>
                        <a:rPr lang="en-US">
                          <a:effectLst/>
                        </a:rPr>
                        <a:t>Confidence (1-10)</a:t>
                      </a:r>
                      <a:endParaRPr lang="en-US">
                        <a:solidFill>
                          <a:schemeClr val="bg1"/>
                        </a:solidFill>
                        <a:effectLst/>
                      </a:endParaRPr>
                    </a:p>
                  </a:txBody>
                  <a:tcPr marR="95250" marT="95250" marB="95250" anchor="ctr"/>
                </a:tc>
                <a:tc>
                  <a:txBody>
                    <a:bodyPr/>
                    <a:lstStyle/>
                    <a:p>
                      <a:r>
                        <a:rPr lang="en-US">
                          <a:effectLst/>
                        </a:rPr>
                        <a:t>4.4</a:t>
                      </a:r>
                      <a:endParaRPr lang="en-US">
                        <a:solidFill>
                          <a:schemeClr val="bg1"/>
                        </a:solidFill>
                        <a:effectLst/>
                      </a:endParaRPr>
                    </a:p>
                  </a:txBody>
                  <a:tcPr marL="95250" marR="95250" marT="95250" marB="95250" anchor="ctr"/>
                </a:tc>
                <a:tc>
                  <a:txBody>
                    <a:bodyPr/>
                    <a:lstStyle/>
                    <a:p>
                      <a:r>
                        <a:rPr lang="en-US" dirty="0">
                          <a:effectLst/>
                        </a:rPr>
                        <a:t>5.1</a:t>
                      </a:r>
                      <a:endParaRPr lang="en-US" dirty="0">
                        <a:solidFill>
                          <a:schemeClr val="bg1"/>
                        </a:solidFill>
                        <a:effectLst/>
                      </a:endParaRPr>
                    </a:p>
                  </a:txBody>
                  <a:tcPr marL="95250" marR="95250" marT="95250" marB="95250" anchor="ctr"/>
                </a:tc>
                <a:extLst>
                  <a:ext uri="{0D108BD9-81ED-4DB2-BD59-A6C34878D82A}">
                    <a16:rowId xmlns:a16="http://schemas.microsoft.com/office/drawing/2014/main" val="1494803783"/>
                  </a:ext>
                </a:extLst>
              </a:tr>
            </a:tbl>
          </a:graphicData>
        </a:graphic>
      </p:graphicFrame>
    </p:spTree>
    <p:extLst>
      <p:ext uri="{BB962C8B-B14F-4D97-AF65-F5344CB8AC3E}">
        <p14:creationId xmlns:p14="http://schemas.microsoft.com/office/powerpoint/2010/main" val="3133196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 Recommendations (Curriculum)</a:t>
            </a:r>
            <a:endParaRPr lang="en-US" dirty="0"/>
          </a:p>
        </p:txBody>
      </p:sp>
      <p:sp>
        <p:nvSpPr>
          <p:cNvPr id="3" name="Content Placeholder 2"/>
          <p:cNvSpPr>
            <a:spLocks noGrp="1"/>
          </p:cNvSpPr>
          <p:nvPr>
            <p:ph idx="1"/>
          </p:nvPr>
        </p:nvSpPr>
        <p:spPr/>
        <p:txBody>
          <a:bodyPr/>
          <a:lstStyle/>
          <a:p>
            <a:r>
              <a:rPr lang="en-US" b="1" dirty="0"/>
              <a:t>Annual Updates:</a:t>
            </a:r>
            <a:r>
              <a:rPr lang="en-US" dirty="0"/>
              <a:t> Integrate AI, Cloud, DevOps.</a:t>
            </a:r>
          </a:p>
          <a:p>
            <a:r>
              <a:rPr lang="en-US" b="1" dirty="0"/>
              <a:t>Industry Collaboration:</a:t>
            </a:r>
            <a:r>
              <a:rPr lang="en-US" dirty="0"/>
              <a:t> Involve tech firms in syllabus design.</a:t>
            </a:r>
          </a:p>
          <a:p>
            <a:r>
              <a:rPr lang="en-US" b="1" dirty="0"/>
              <a:t>Project-Based Learning:</a:t>
            </a:r>
            <a:r>
              <a:rPr lang="en-US" dirty="0"/>
              <a:t> Replace rote exams with real-world projects.</a:t>
            </a:r>
          </a:p>
          <a:p>
            <a:endParaRPr lang="en-US" dirty="0"/>
          </a:p>
        </p:txBody>
      </p:sp>
    </p:spTree>
    <p:extLst>
      <p:ext uri="{BB962C8B-B14F-4D97-AF65-F5344CB8AC3E}">
        <p14:creationId xmlns:p14="http://schemas.microsoft.com/office/powerpoint/2010/main" val="32266976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Recommendations (Faculty &amp; Training)</a:t>
            </a:r>
            <a:endParaRPr lang="en-US" dirty="0"/>
          </a:p>
        </p:txBody>
      </p:sp>
      <p:sp>
        <p:nvSpPr>
          <p:cNvPr id="3" name="Content Placeholder 2"/>
          <p:cNvSpPr>
            <a:spLocks noGrp="1"/>
          </p:cNvSpPr>
          <p:nvPr>
            <p:ph idx="1"/>
          </p:nvPr>
        </p:nvSpPr>
        <p:spPr/>
        <p:txBody>
          <a:bodyPr/>
          <a:lstStyle/>
          <a:p>
            <a:r>
              <a:rPr lang="en-US" b="1" dirty="0"/>
              <a:t>Hire Industry Professionals:</a:t>
            </a:r>
            <a:r>
              <a:rPr lang="en-US" dirty="0"/>
              <a:t> Prioritize faculty with coding experience.</a:t>
            </a:r>
          </a:p>
          <a:p>
            <a:r>
              <a:rPr lang="en-US" b="1" dirty="0"/>
              <a:t>Faculty Upskilling:</a:t>
            </a:r>
            <a:r>
              <a:rPr lang="en-US" dirty="0"/>
              <a:t> Sponsor certifications/workshops.</a:t>
            </a:r>
          </a:p>
          <a:p>
            <a:r>
              <a:rPr lang="en-US" b="1" dirty="0"/>
              <a:t>Hands-On Labs:</a:t>
            </a:r>
            <a:r>
              <a:rPr lang="en-US" dirty="0"/>
              <a:t> Modernize labs with </a:t>
            </a:r>
            <a:r>
              <a:rPr lang="en-US" dirty="0" err="1"/>
              <a:t>Git</a:t>
            </a:r>
            <a:r>
              <a:rPr lang="en-US" dirty="0"/>
              <a:t>, CI/CD, cloud platforms.</a:t>
            </a:r>
          </a:p>
        </p:txBody>
      </p:sp>
    </p:spTree>
    <p:extLst>
      <p:ext uri="{BB962C8B-B14F-4D97-AF65-F5344CB8AC3E}">
        <p14:creationId xmlns:p14="http://schemas.microsoft.com/office/powerpoint/2010/main" val="22563385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Recommendations (Entrepreneurship &amp; Careers)</a:t>
            </a:r>
            <a:endParaRPr lang="en-US" dirty="0"/>
          </a:p>
        </p:txBody>
      </p:sp>
      <p:sp>
        <p:nvSpPr>
          <p:cNvPr id="3" name="Content Placeholder 2"/>
          <p:cNvSpPr>
            <a:spLocks noGrp="1"/>
          </p:cNvSpPr>
          <p:nvPr>
            <p:ph idx="1"/>
          </p:nvPr>
        </p:nvSpPr>
        <p:spPr/>
        <p:txBody>
          <a:bodyPr/>
          <a:lstStyle/>
          <a:p>
            <a:r>
              <a:rPr lang="en-US" b="1" dirty="0"/>
              <a:t>Expand Incubators:</a:t>
            </a:r>
            <a:r>
              <a:rPr lang="en-US" dirty="0"/>
              <a:t> Funding, mentorship, networking.</a:t>
            </a:r>
          </a:p>
          <a:p>
            <a:r>
              <a:rPr lang="en-US" b="1" dirty="0"/>
              <a:t>Mandatory Internships:</a:t>
            </a:r>
            <a:r>
              <a:rPr lang="en-US" dirty="0"/>
              <a:t> Partner with companies for placements.</a:t>
            </a:r>
          </a:p>
          <a:p>
            <a:r>
              <a:rPr lang="en-US" b="1" dirty="0"/>
              <a:t>Career Centers:</a:t>
            </a:r>
            <a:r>
              <a:rPr lang="en-US" dirty="0"/>
              <a:t> Resume workshops, mock interviews, job fairs.</a:t>
            </a:r>
          </a:p>
        </p:txBody>
      </p:sp>
    </p:spTree>
    <p:extLst>
      <p:ext uri="{BB962C8B-B14F-4D97-AF65-F5344CB8AC3E}">
        <p14:creationId xmlns:p14="http://schemas.microsoft.com/office/powerpoint/2010/main" val="41945890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Conclusion</a:t>
            </a:r>
            <a:endParaRPr lang="en-US" dirty="0"/>
          </a:p>
        </p:txBody>
      </p:sp>
      <p:sp>
        <p:nvSpPr>
          <p:cNvPr id="3" name="Content Placeholder 2"/>
          <p:cNvSpPr>
            <a:spLocks noGrp="1"/>
          </p:cNvSpPr>
          <p:nvPr>
            <p:ph idx="1"/>
          </p:nvPr>
        </p:nvSpPr>
        <p:spPr/>
        <p:txBody>
          <a:bodyPr/>
          <a:lstStyle/>
          <a:p>
            <a:r>
              <a:rPr lang="en-US" dirty="0"/>
              <a:t>Universities must bridge the gap between academia and industry.</a:t>
            </a:r>
          </a:p>
          <a:p>
            <a:r>
              <a:rPr lang="en-US" dirty="0"/>
              <a:t>Urgent reforms needed in curriculum, faculty training, and practical exposure.</a:t>
            </a:r>
          </a:p>
          <a:p>
            <a:r>
              <a:rPr lang="en-US" dirty="0"/>
              <a:t>Stronger industry partnerships can boost graduate employability and innovation.</a:t>
            </a:r>
          </a:p>
        </p:txBody>
      </p:sp>
    </p:spTree>
    <p:extLst>
      <p:ext uri="{BB962C8B-B14F-4D97-AF65-F5344CB8AC3E}">
        <p14:creationId xmlns:p14="http://schemas.microsoft.com/office/powerpoint/2010/main" val="325001732"/>
      </p:ext>
    </p:extLst>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 name="Shape 17"/>
        <p:cNvGrpSpPr/>
        <p:nvPr/>
      </p:nvGrpSpPr>
      <p:grpSpPr>
        <a:xfrm>
          <a:off x="0" y="0"/>
          <a:ext cx="0" cy="0"/>
          <a:chOff x="0" y="0"/>
          <a:chExt cx="0" cy="0"/>
        </a:xfrm>
      </p:grpSpPr>
      <p:sp>
        <p:nvSpPr>
          <p:cNvPr id="18" name="Google Shape;18;p1"/>
          <p:cNvSpPr txBox="1"/>
          <p:nvPr>
            <p:ph type="ctrTitle"/>
          </p:nvPr>
        </p:nvSpPr>
        <p:spPr>
          <a:xfrm>
            <a:off x="3556000" y="7643235"/>
            <a:ext cx="9144000" cy="2387700"/>
          </a:xfrm>
          <a:prstGeom prst="rect">
            <a:avLst/>
          </a:prstGeom>
          <a:noFill/>
          <a:ln>
            <a:noFill/>
          </a:ln>
        </p:spPr>
        <p:txBody>
          <a:bodyPr anchorCtr="0" anchor="b" bIns="45700" lIns="91425" spcFirstLastPara="1" rIns="91425" wrap="square" tIns="45700">
            <a:normAutofit/>
          </a:bodyPr>
          <a:lstStyle/>
          <a:p>
            <a:pPr indent="0" lvl="0" marL="0" rtl="0" algn="ctr">
              <a:spcBef>
                <a:spcPts val="0"/>
              </a:spcBef>
              <a:spcAft>
                <a:spcPts val="0"/>
              </a:spcAft>
              <a:buNone/>
            </a:pPr>
            <a:r>
              <a:t/>
            </a:r>
            <a:endParaRPr/>
          </a:p>
        </p:txBody>
      </p:sp>
      <p:sp>
        <p:nvSpPr>
          <p:cNvPr id="19" name="Google Shape;19;p1"/>
          <p:cNvSpPr txBox="1"/>
          <p:nvPr>
            <p:ph idx="1" type="subTitle"/>
          </p:nvPr>
        </p:nvSpPr>
        <p:spPr>
          <a:xfrm rot="10800000">
            <a:off x="838542" y="8136575"/>
            <a:ext cx="1313700" cy="259200"/>
          </a:xfrm>
          <a:prstGeom prst="rect">
            <a:avLst/>
          </a:prstGeom>
          <a:noFill/>
          <a:ln>
            <a:noFill/>
          </a:ln>
        </p:spPr>
        <p:txBody>
          <a:bodyPr anchorCtr="0" anchor="t" bIns="45700" lIns="91425" spcFirstLastPara="1" rIns="91425" wrap="square" tIns="45700">
            <a:normAutofit fontScale="62500" lnSpcReduction="20000"/>
          </a:bodyPr>
          <a:lstStyle/>
          <a:p>
            <a:pPr indent="0" lvl="0" marL="0" rtl="0" algn="ctr">
              <a:spcBef>
                <a:spcPts val="1000"/>
              </a:spcBef>
              <a:spcAft>
                <a:spcPts val="0"/>
              </a:spcAft>
              <a:buNone/>
            </a:pPr>
            <a:r>
              <a:t/>
            </a:r>
            <a:endParaRPr/>
          </a:p>
        </p:txBody>
      </p:sp>
      <p:sp>
        <p:nvSpPr>
          <p:cNvPr id="20" name="Google Shape;20;p1"/>
          <p:cNvSpPr txBox="1"/>
          <p:nvPr/>
        </p:nvSpPr>
        <p:spPr>
          <a:xfrm>
            <a:off x="838200" y="365125"/>
            <a:ext cx="9432600" cy="1460400"/>
          </a:xfrm>
          <a:prstGeom prst="rect">
            <a:avLst/>
          </a:prstGeom>
          <a:noFill/>
          <a:ln>
            <a:noFill/>
          </a:ln>
        </p:spPr>
        <p:txBody>
          <a:bodyPr anchorCtr="0" anchor="ctr" bIns="45700" lIns="91425" spcFirstLastPara="1" rIns="91425" wrap="square" tIns="45700">
            <a:normAutofit/>
          </a:bodyPr>
          <a:ls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stStyle>
          <a:p>
            <a:pPr indent="0" lvl="0" marL="0" rtl="0" algn="l">
              <a:lnSpc>
                <a:spcPct val="90000"/>
              </a:lnSpc>
              <a:spcBef>
                <a:spcPts val="0"/>
              </a:spcBef>
              <a:spcAft>
                <a:spcPts val="0"/>
              </a:spcAft>
              <a:buNone/>
            </a:pPr>
            <a:r>
              <a:rPr lang="en-US" sz="4400">
                <a:solidFill>
                  <a:srgbClr val="000000"/>
                </a:solidFill>
                <a:latin typeface="Calibri"/>
                <a:ea typeface="Calibri"/>
                <a:cs typeface="Calibri"/>
                <a:sym typeface="Calibri"/>
              </a:rPr>
              <a:t>Literature Review: Key Sources</a:t>
            </a:r>
            <a:endParaRPr sz="4400">
              <a:solidFill>
                <a:srgbClr val="000000"/>
              </a:solidFill>
              <a:latin typeface="Calibri"/>
              <a:ea typeface="Calibri"/>
              <a:cs typeface="Calibri"/>
              <a:sym typeface="Calibri"/>
            </a:endParaRPr>
          </a:p>
        </p:txBody>
      </p:sp>
      <p:sp>
        <p:nvSpPr>
          <p:cNvPr id="21" name="Google Shape;21;p1"/>
          <p:cNvSpPr txBox="1"/>
          <p:nvPr/>
        </p:nvSpPr>
        <p:spPr>
          <a:xfrm>
            <a:off x="838200" y="1825625"/>
            <a:ext cx="10515600" cy="4351200"/>
          </a:xfrm>
          <a:prstGeom prst="rect">
            <a:avLst/>
          </a:prstGeom>
          <a:noFill/>
          <a:ln>
            <a:noFill/>
          </a:ln>
        </p:spPr>
        <p:txBody>
          <a:bodyPr anchorCtr="0" anchor="t" bIns="45700" lIns="91425" spcFirstLastPara="1" rIns="91425" wrap="square" tIns="45700">
            <a:normAutofit lnSpcReduction="10000"/>
          </a:bodyPr>
          <a:ls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stStyle>
          <a:p>
            <a:pPr indent="-228600" lvl="0" marL="228600" rtl="0" algn="l">
              <a:lnSpc>
                <a:spcPct val="90000"/>
              </a:lnSpc>
              <a:spcBef>
                <a:spcPts val="0"/>
              </a:spcBef>
              <a:spcAft>
                <a:spcPts val="0"/>
              </a:spcAft>
              <a:buClr>
                <a:srgbClr val="000000"/>
              </a:buClr>
              <a:buSzPts val="2800"/>
              <a:buChar char="•"/>
            </a:pPr>
            <a:r>
              <a:rPr lang="en-US" sz="2800">
                <a:solidFill>
                  <a:srgbClr val="000000"/>
                </a:solidFill>
                <a:latin typeface="Calibri"/>
                <a:ea typeface="Calibri"/>
                <a:cs typeface="Calibri"/>
                <a:sym typeface="Calibri"/>
              </a:rPr>
              <a:t>1. HEC (2021): Curriculum lacks consistent implementation, weak enforcement.</a:t>
            </a:r>
            <a:endParaRPr sz="2800">
              <a:solidFill>
                <a:srgbClr val="000000"/>
              </a:solidFill>
              <a:latin typeface="Calibri"/>
              <a:ea typeface="Calibri"/>
              <a:cs typeface="Calibri"/>
              <a:sym typeface="Calibri"/>
            </a:endParaRPr>
          </a:p>
          <a:p>
            <a:pPr indent="-228600" lvl="0" marL="228600" rtl="0" algn="l">
              <a:lnSpc>
                <a:spcPct val="90000"/>
              </a:lnSpc>
              <a:spcBef>
                <a:spcPts val="1000"/>
              </a:spcBef>
              <a:spcAft>
                <a:spcPts val="0"/>
              </a:spcAft>
              <a:buClr>
                <a:srgbClr val="000000"/>
              </a:buClr>
              <a:buSzPts val="2800"/>
              <a:buChar char="•"/>
            </a:pPr>
            <a:r>
              <a:rPr lang="en-US" sz="2800">
                <a:solidFill>
                  <a:srgbClr val="000000"/>
                </a:solidFill>
                <a:latin typeface="Calibri"/>
                <a:ea typeface="Calibri"/>
                <a:cs typeface="Calibri"/>
                <a:sym typeface="Calibri"/>
              </a:rPr>
              <a:t>2. P@SHA &amp; PSEB (2022): Only 18% trained in modern tech; big skill gaps.</a:t>
            </a:r>
            <a:endParaRPr sz="2800">
              <a:solidFill>
                <a:srgbClr val="000000"/>
              </a:solidFill>
              <a:latin typeface="Calibri"/>
              <a:ea typeface="Calibri"/>
              <a:cs typeface="Calibri"/>
              <a:sym typeface="Calibri"/>
            </a:endParaRPr>
          </a:p>
          <a:p>
            <a:pPr indent="-228600" lvl="0" marL="228600" rtl="0" algn="l">
              <a:lnSpc>
                <a:spcPct val="90000"/>
              </a:lnSpc>
              <a:spcBef>
                <a:spcPts val="1000"/>
              </a:spcBef>
              <a:spcAft>
                <a:spcPts val="0"/>
              </a:spcAft>
              <a:buClr>
                <a:srgbClr val="000000"/>
              </a:buClr>
              <a:buSzPts val="2800"/>
              <a:buChar char="•"/>
            </a:pPr>
            <a:r>
              <a:rPr lang="en-US" sz="2800">
                <a:solidFill>
                  <a:srgbClr val="000000"/>
                </a:solidFill>
                <a:latin typeface="Calibri"/>
                <a:ea typeface="Calibri"/>
                <a:cs typeface="Calibri"/>
                <a:sym typeface="Calibri"/>
              </a:rPr>
              <a:t>3. World Bank (2020): Weak R&amp;D, outdated education, poor public-private ties.</a:t>
            </a:r>
            <a:endParaRPr sz="2800">
              <a:solidFill>
                <a:srgbClr val="000000"/>
              </a:solidFill>
              <a:latin typeface="Calibri"/>
              <a:ea typeface="Calibri"/>
              <a:cs typeface="Calibri"/>
              <a:sym typeface="Calibri"/>
            </a:endParaRPr>
          </a:p>
          <a:p>
            <a:pPr indent="-228600" lvl="0" marL="228600" rtl="0" algn="l">
              <a:lnSpc>
                <a:spcPct val="90000"/>
              </a:lnSpc>
              <a:spcBef>
                <a:spcPts val="1000"/>
              </a:spcBef>
              <a:spcAft>
                <a:spcPts val="0"/>
              </a:spcAft>
              <a:buClr>
                <a:srgbClr val="000000"/>
              </a:buClr>
              <a:buSzPts val="2800"/>
              <a:buChar char="•"/>
            </a:pPr>
            <a:r>
              <a:rPr lang="en-US" sz="2800">
                <a:solidFill>
                  <a:srgbClr val="000000"/>
                </a:solidFill>
                <a:latin typeface="Calibri"/>
                <a:ea typeface="Calibri"/>
                <a:cs typeface="Calibri"/>
                <a:sym typeface="Calibri"/>
              </a:rPr>
              <a:t>4. British Council (2019): Only 23% employable; missing soft skills, hands-on learning.</a:t>
            </a:r>
            <a:endParaRPr sz="2800">
              <a:solidFill>
                <a:srgbClr val="000000"/>
              </a:solidFill>
              <a:latin typeface="Calibri"/>
              <a:ea typeface="Calibri"/>
              <a:cs typeface="Calibri"/>
              <a:sym typeface="Calibri"/>
            </a:endParaRPr>
          </a:p>
          <a:p>
            <a:pPr indent="-228600" lvl="0" marL="228600" rtl="0" algn="l">
              <a:lnSpc>
                <a:spcPct val="90000"/>
              </a:lnSpc>
              <a:spcBef>
                <a:spcPts val="1000"/>
              </a:spcBef>
              <a:spcAft>
                <a:spcPts val="0"/>
              </a:spcAft>
              <a:buClr>
                <a:srgbClr val="000000"/>
              </a:buClr>
              <a:buSzPts val="2800"/>
              <a:buChar char="•"/>
            </a:pPr>
            <a:r>
              <a:rPr lang="en-US" sz="2800">
                <a:solidFill>
                  <a:srgbClr val="000000"/>
                </a:solidFill>
                <a:latin typeface="Calibri"/>
                <a:ea typeface="Calibri"/>
                <a:cs typeface="Calibri"/>
                <a:sym typeface="Calibri"/>
              </a:rPr>
              <a:t>5. Stack Overflow (2023): 42% self-taught DevOps; rising informal learning trend.</a:t>
            </a:r>
            <a:endParaRPr sz="2800">
              <a:solidFill>
                <a:srgbClr val="000000"/>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 name="Shape 25"/>
        <p:cNvGrpSpPr/>
        <p:nvPr/>
      </p:nvGrpSpPr>
      <p:grpSpPr>
        <a:xfrm>
          <a:off x="0" y="0"/>
          <a:ext cx="0" cy="0"/>
          <a:chOff x="0" y="0"/>
          <a:chExt cx="0" cy="0"/>
        </a:xfrm>
      </p:grpSpPr>
      <p:sp>
        <p:nvSpPr>
          <p:cNvPr id="26" name="Google Shape;26;p2"/>
          <p:cNvSpPr txBox="1"/>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stStyle>
          <a:p>
            <a:pPr indent="0" lvl="0" marL="0" rtl="0" algn="l">
              <a:lnSpc>
                <a:spcPct val="90000"/>
              </a:lnSpc>
              <a:spcBef>
                <a:spcPts val="0"/>
              </a:spcBef>
              <a:spcAft>
                <a:spcPts val="0"/>
              </a:spcAft>
              <a:buNone/>
            </a:pPr>
            <a:r>
              <a:rPr lang="en-US" sz="4400">
                <a:solidFill>
                  <a:srgbClr val="000000"/>
                </a:solidFill>
                <a:latin typeface="Calibri"/>
                <a:ea typeface="Calibri"/>
                <a:cs typeface="Calibri"/>
                <a:sym typeface="Calibri"/>
              </a:rPr>
              <a:t>Literature Review: Summary &amp; Gaps</a:t>
            </a:r>
            <a:endParaRPr sz="4400">
              <a:solidFill>
                <a:srgbClr val="000000"/>
              </a:solidFill>
              <a:latin typeface="Calibri"/>
              <a:ea typeface="Calibri"/>
              <a:cs typeface="Calibri"/>
              <a:sym typeface="Calibri"/>
            </a:endParaRPr>
          </a:p>
        </p:txBody>
      </p:sp>
      <p:sp>
        <p:nvSpPr>
          <p:cNvPr id="27" name="Google Shape;27;p2"/>
          <p:cNvSpPr txBox="1"/>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stStyle>
          <a:p>
            <a:pPr indent="-228600" lvl="0" marL="228600" rtl="0" algn="l">
              <a:lnSpc>
                <a:spcPct val="90000"/>
              </a:lnSpc>
              <a:spcBef>
                <a:spcPts val="0"/>
              </a:spcBef>
              <a:spcAft>
                <a:spcPts val="0"/>
              </a:spcAft>
              <a:buClr>
                <a:srgbClr val="000000"/>
              </a:buClr>
              <a:buSzPts val="2800"/>
              <a:buChar char="•"/>
            </a:pPr>
            <a:r>
              <a:rPr lang="en-US" sz="2800">
                <a:solidFill>
                  <a:srgbClr val="000000"/>
                </a:solidFill>
                <a:latin typeface="Calibri"/>
                <a:ea typeface="Calibri"/>
                <a:cs typeface="Calibri"/>
                <a:sym typeface="Calibri"/>
              </a:rPr>
              <a:t>• Universities still teach outdated tech with few updates.</a:t>
            </a:r>
            <a:endParaRPr sz="2800">
              <a:solidFill>
                <a:srgbClr val="000000"/>
              </a:solidFill>
              <a:latin typeface="Calibri"/>
              <a:ea typeface="Calibri"/>
              <a:cs typeface="Calibri"/>
              <a:sym typeface="Calibri"/>
            </a:endParaRPr>
          </a:p>
          <a:p>
            <a:pPr indent="-228600" lvl="0" marL="228600" rtl="0" algn="l">
              <a:lnSpc>
                <a:spcPct val="90000"/>
              </a:lnSpc>
              <a:spcBef>
                <a:spcPts val="1000"/>
              </a:spcBef>
              <a:spcAft>
                <a:spcPts val="0"/>
              </a:spcAft>
              <a:buClr>
                <a:srgbClr val="000000"/>
              </a:buClr>
              <a:buSzPts val="2800"/>
              <a:buChar char="•"/>
            </a:pPr>
            <a:r>
              <a:rPr lang="en-US" sz="2800">
                <a:solidFill>
                  <a:srgbClr val="000000"/>
                </a:solidFill>
                <a:latin typeface="Calibri"/>
                <a:ea typeface="Calibri"/>
                <a:cs typeface="Calibri"/>
                <a:sym typeface="Calibri"/>
              </a:rPr>
              <a:t>• Curricula designed without industry input; AI, Cloud, DevOps missing.</a:t>
            </a:r>
            <a:endParaRPr sz="2800">
              <a:solidFill>
                <a:srgbClr val="000000"/>
              </a:solidFill>
              <a:latin typeface="Calibri"/>
              <a:ea typeface="Calibri"/>
              <a:cs typeface="Calibri"/>
              <a:sym typeface="Calibri"/>
            </a:endParaRPr>
          </a:p>
          <a:p>
            <a:pPr indent="-228600" lvl="0" marL="228600" rtl="0" algn="l">
              <a:lnSpc>
                <a:spcPct val="90000"/>
              </a:lnSpc>
              <a:spcBef>
                <a:spcPts val="1000"/>
              </a:spcBef>
              <a:spcAft>
                <a:spcPts val="0"/>
              </a:spcAft>
              <a:buClr>
                <a:srgbClr val="000000"/>
              </a:buClr>
              <a:buSzPts val="2800"/>
              <a:buChar char="•"/>
            </a:pPr>
            <a:r>
              <a:rPr lang="en-US" sz="2800">
                <a:solidFill>
                  <a:srgbClr val="000000"/>
                </a:solidFill>
                <a:latin typeface="Calibri"/>
                <a:ea typeface="Calibri"/>
                <a:cs typeface="Calibri"/>
                <a:sym typeface="Calibri"/>
              </a:rPr>
              <a:t>• Faculty lack industry experience; mostly theory-based teaching.</a:t>
            </a:r>
            <a:endParaRPr sz="2800">
              <a:solidFill>
                <a:srgbClr val="000000"/>
              </a:solidFill>
              <a:latin typeface="Calibri"/>
              <a:ea typeface="Calibri"/>
              <a:cs typeface="Calibri"/>
              <a:sym typeface="Calibri"/>
            </a:endParaRPr>
          </a:p>
          <a:p>
            <a:pPr indent="-228600" lvl="0" marL="228600" rtl="0" algn="l">
              <a:lnSpc>
                <a:spcPct val="90000"/>
              </a:lnSpc>
              <a:spcBef>
                <a:spcPts val="1000"/>
              </a:spcBef>
              <a:spcAft>
                <a:spcPts val="0"/>
              </a:spcAft>
              <a:buClr>
                <a:srgbClr val="000000"/>
              </a:buClr>
              <a:buSzPts val="2800"/>
              <a:buChar char="•"/>
            </a:pPr>
            <a:r>
              <a:rPr lang="en-US" sz="2800">
                <a:solidFill>
                  <a:srgbClr val="000000"/>
                </a:solidFill>
                <a:latin typeface="Calibri"/>
                <a:ea typeface="Calibri"/>
                <a:cs typeface="Calibri"/>
                <a:sym typeface="Calibri"/>
              </a:rPr>
              <a:t>• Students miss hands-on learning, internships, and startup exposure.</a:t>
            </a:r>
            <a:endParaRPr sz="2800">
              <a:solidFill>
                <a:srgbClr val="000000"/>
              </a:solidFill>
              <a:latin typeface="Calibri"/>
              <a:ea typeface="Calibri"/>
              <a:cs typeface="Calibri"/>
              <a:sym typeface="Calibri"/>
            </a:endParaRPr>
          </a:p>
          <a:p>
            <a:pPr indent="-228600" lvl="0" marL="228600" rtl="0" algn="l">
              <a:lnSpc>
                <a:spcPct val="90000"/>
              </a:lnSpc>
              <a:spcBef>
                <a:spcPts val="1000"/>
              </a:spcBef>
              <a:spcAft>
                <a:spcPts val="0"/>
              </a:spcAft>
              <a:buClr>
                <a:srgbClr val="000000"/>
              </a:buClr>
              <a:buSzPts val="2800"/>
              <a:buChar char="•"/>
            </a:pPr>
            <a:r>
              <a:rPr lang="en-US" sz="2800">
                <a:solidFill>
                  <a:srgbClr val="000000"/>
                </a:solidFill>
                <a:latin typeface="Calibri"/>
                <a:ea typeface="Calibri"/>
                <a:cs typeface="Calibri"/>
                <a:sym typeface="Calibri"/>
              </a:rPr>
              <a:t>• Most studies ignore student voices — this research fills that gap.</a:t>
            </a:r>
            <a:endParaRPr sz="2800">
              <a:solidFill>
                <a:srgbClr val="000000"/>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