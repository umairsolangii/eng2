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822441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17079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989774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3899496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25BBED-7881-4FB4-9D80-05BEC1F94980}"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3395647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25BBED-7881-4FB4-9D80-05BEC1F94980}"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475432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5BBED-7881-4FB4-9D80-05BEC1F94980}" type="datetimeFigureOut">
              <a:rPr lang="en-US"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0820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24496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44717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7442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749398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25BBED-7881-4FB4-9D80-05BEC1F94980}" type="datetimeFigureOut">
              <a:rPr lang="en-US" smtClean="0"/>
              <a:t>6/2/2025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2B2198-3B29-43AA-BF57-30D4B09BABAA}" type="slidenum">
              <a:rPr lang="en-US" smtClean="0"/>
              <a:t>‹#›</a:t>
            </a:fld>
            <a:endParaRPr lang="en-US"/>
          </a:p>
        </p:txBody>
      </p:sp>
    </p:spTree>
    <p:extLst>
      <p:ext uri="{BB962C8B-B14F-4D97-AF65-F5344CB8AC3E}">
        <p14:creationId xmlns:p14="http://schemas.microsoft.com/office/powerpoint/2010/main" val="2047228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8868" y="3722914"/>
            <a:ext cx="9144000" cy="2573383"/>
          </a:xfrm>
        </p:spPr>
        <p:txBody>
          <a:bodyPr>
            <a:normAutofit fontScale="90000"/>
          </a:bodyPr>
          <a:lstStyle/>
          <a:p>
            <a:r>
              <a:rPr lang="en-US" sz="3200" dirty="0" smtClean="0"/>
              <a:t>Why </a:t>
            </a:r>
            <a:r>
              <a:rPr lang="en-US" sz="3200" dirty="0"/>
              <a:t>Pakistan Struggles to Build Tech Giants: Investigating the Role of University </a:t>
            </a:r>
            <a:r>
              <a:rPr lang="en-US" sz="3200" dirty="0" smtClean="0"/>
              <a:t>Education</a:t>
            </a:r>
            <a:br>
              <a:rPr lang="en-US" sz="3200" dirty="0" smtClean="0"/>
            </a:br>
            <a:r>
              <a:rPr lang="en-US" sz="3200" dirty="0" smtClean="0"/>
              <a:t/>
            </a:r>
            <a:br>
              <a:rPr lang="en-US" sz="3200" dirty="0" smtClean="0"/>
            </a:br>
            <a:r>
              <a:rPr lang="en-US" sz="3200" dirty="0" smtClean="0"/>
              <a:t>A </a:t>
            </a:r>
            <a:r>
              <a:rPr lang="en-US" sz="3200" dirty="0"/>
              <a:t>Student </a:t>
            </a:r>
            <a:r>
              <a:rPr lang="en-US" sz="3200" dirty="0" smtClean="0"/>
              <a:t>Perspective</a:t>
            </a:r>
            <a:br>
              <a:rPr lang="en-US" sz="3200" dirty="0" smtClean="0"/>
            </a:br>
            <a:r>
              <a:rPr lang="en-US" sz="3200" dirty="0" smtClean="0"/>
              <a:t/>
            </a:r>
            <a:br>
              <a:rPr lang="en-US" sz="3200" dirty="0" smtClean="0"/>
            </a:br>
            <a:r>
              <a:rPr lang="en-US" sz="3200" b="1" dirty="0" smtClean="0"/>
              <a:t>Authors:</a:t>
            </a:r>
            <a:r>
              <a:rPr lang="en-US" sz="3200" dirty="0" smtClean="0"/>
              <a:t> </a:t>
            </a:r>
            <a:r>
              <a:rPr lang="en-US" sz="3200" dirty="0" err="1" smtClean="0"/>
              <a:t>Umair</a:t>
            </a:r>
            <a:r>
              <a:rPr lang="en-US" sz="3200" dirty="0" smtClean="0"/>
              <a:t> </a:t>
            </a:r>
            <a:r>
              <a:rPr lang="en-US" sz="3200" dirty="0" err="1" smtClean="0"/>
              <a:t>Solangi</a:t>
            </a:r>
            <a:r>
              <a:rPr lang="en-US" sz="3200" dirty="0" smtClean="0"/>
              <a:t>, Hamza bin Jawed</a:t>
            </a:r>
            <a:br>
              <a:rPr lang="en-US" sz="3200" dirty="0" smtClean="0"/>
            </a:br>
            <a:r>
              <a:rPr lang="en-US" sz="3200" b="1" dirty="0" smtClean="0"/>
              <a:t>Department:</a:t>
            </a:r>
            <a:r>
              <a:rPr lang="en-US" sz="3200" dirty="0" smtClean="0"/>
              <a:t> Computer Science, SZABIST Karachi</a:t>
            </a: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2200" dirty="0" smtClean="0"/>
              <a:t>How effectively does university education in Pakistan equip computer science graduates with the practical skills and knowledge required to develop scalable tech products, and what are the key gaps between academic training and industry demands?</a:t>
            </a:r>
            <a:br>
              <a:rPr lang="en-US" sz="2200" dirty="0" smtClean="0"/>
            </a:br>
            <a:r>
              <a:rPr lang="en-US" sz="2200" dirty="0"/>
              <a:t/>
            </a:r>
            <a:br>
              <a:rPr lang="en-US" sz="2200" dirty="0"/>
            </a:br>
            <a:r>
              <a:rPr lang="en-US" sz="3200" dirty="0" smtClean="0"/>
              <a:t/>
            </a:r>
            <a:br>
              <a:rPr lang="en-US" sz="3200" dirty="0" smtClean="0"/>
            </a:br>
            <a:endParaRPr lang="en-US" sz="3200" dirty="0"/>
          </a:p>
        </p:txBody>
      </p:sp>
    </p:spTree>
    <p:extLst>
      <p:ext uri="{BB962C8B-B14F-4D97-AF65-F5344CB8AC3E}">
        <p14:creationId xmlns:p14="http://schemas.microsoft.com/office/powerpoint/2010/main" val="344238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Problem </a:t>
            </a:r>
            <a:r>
              <a:rPr lang="en-US" b="1" dirty="0"/>
              <a:t>Statement:</a:t>
            </a:r>
            <a:endParaRPr lang="en-US" dirty="0"/>
          </a:p>
          <a:p>
            <a:pPr lvl="1"/>
            <a:r>
              <a:rPr lang="en-US" dirty="0"/>
              <a:t>Pakistan produces thousands of CS graduates yearly, but few contribute to global tech innovation.</a:t>
            </a:r>
          </a:p>
          <a:p>
            <a:pPr lvl="1"/>
            <a:r>
              <a:rPr lang="en-US" dirty="0"/>
              <a:t>Universities focus on outdated curricula, lack industry alignment, and provide minimal practical exposure.</a:t>
            </a:r>
          </a:p>
          <a:p>
            <a:r>
              <a:rPr lang="en-US" b="1" dirty="0"/>
              <a:t>Objective:</a:t>
            </a:r>
            <a:endParaRPr lang="en-US" dirty="0"/>
          </a:p>
          <a:p>
            <a:pPr lvl="1"/>
            <a:r>
              <a:rPr lang="en-US" dirty="0"/>
              <a:t>Evaluate CS education quality through student perspectives.</a:t>
            </a:r>
          </a:p>
          <a:p>
            <a:pPr lvl="1"/>
            <a:r>
              <a:rPr lang="en-US" dirty="0"/>
              <a:t>Identify gaps in curriculum, faculty, internships, and entrepreneurship support.</a:t>
            </a:r>
          </a:p>
          <a:p>
            <a:endParaRPr lang="en-US" dirty="0"/>
          </a:p>
        </p:txBody>
      </p:sp>
    </p:spTree>
    <p:extLst>
      <p:ext uri="{BB962C8B-B14F-4D97-AF65-F5344CB8AC3E}">
        <p14:creationId xmlns:p14="http://schemas.microsoft.com/office/powerpoint/2010/main" val="2357064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574130"/>
            <a:ext cx="10515600" cy="1325563"/>
          </a:xfrm>
        </p:spPr>
        <p:txBody>
          <a:bodyPr>
            <a:normAutofit/>
          </a:bodyPr>
          <a:lstStyle/>
          <a:p>
            <a:r>
              <a:rPr lang="en-US" b="1" dirty="0"/>
              <a:t>Research Questions</a:t>
            </a:r>
            <a:r>
              <a:rPr lang="en-US" dirty="0"/>
              <a:t/>
            </a:r>
            <a:br>
              <a:rPr lang="en-US" dirty="0"/>
            </a:br>
            <a:endParaRPr lang="en-US" sz="3100" b="1" dirty="0"/>
          </a:p>
        </p:txBody>
      </p:sp>
      <p:sp>
        <p:nvSpPr>
          <p:cNvPr id="3" name="Content Placeholder 2"/>
          <p:cNvSpPr>
            <a:spLocks noGrp="1"/>
          </p:cNvSpPr>
          <p:nvPr>
            <p:ph idx="1"/>
          </p:nvPr>
        </p:nvSpPr>
        <p:spPr>
          <a:xfrm>
            <a:off x="851263" y="2256699"/>
            <a:ext cx="10515600" cy="4351338"/>
          </a:xfrm>
        </p:spPr>
        <p:txBody>
          <a:bodyPr/>
          <a:lstStyle/>
          <a:p>
            <a:r>
              <a:rPr lang="en-US" dirty="0"/>
              <a:t>Is the CS curriculum aligned with industry needs?</a:t>
            </a:r>
          </a:p>
          <a:p>
            <a:r>
              <a:rPr lang="en-US" dirty="0"/>
              <a:t>Do students receive adequate practical training?</a:t>
            </a:r>
          </a:p>
          <a:p>
            <a:r>
              <a:rPr lang="en-US" dirty="0"/>
              <a:t>Are faculty members industry-experienced?</a:t>
            </a:r>
          </a:p>
          <a:p>
            <a:r>
              <a:rPr lang="en-US" dirty="0"/>
              <a:t>How accessible are internships and entrepreneurial support?</a:t>
            </a:r>
          </a:p>
          <a:p>
            <a:r>
              <a:rPr lang="en-US" dirty="0"/>
              <a:t>Are there differences between public (NED) and private (SZABIST) universities?</a:t>
            </a:r>
          </a:p>
          <a:p>
            <a:endParaRPr lang="en-US" dirty="0"/>
          </a:p>
        </p:txBody>
      </p:sp>
    </p:spTree>
    <p:extLst>
      <p:ext uri="{BB962C8B-B14F-4D97-AF65-F5344CB8AC3E}">
        <p14:creationId xmlns:p14="http://schemas.microsoft.com/office/powerpoint/2010/main" val="150779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Methodology</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Sample:</a:t>
            </a:r>
            <a:r>
              <a:rPr lang="en-US" dirty="0"/>
              <a:t> 72 final-year CS students (NED: 52, SZABIST: 19, Urdu University: 1).</a:t>
            </a:r>
          </a:p>
          <a:p>
            <a:r>
              <a:rPr lang="en-US" b="1" dirty="0"/>
              <a:t>Data Collection:</a:t>
            </a:r>
            <a:r>
              <a:rPr lang="en-US" dirty="0"/>
              <a:t> Structured survey (Likert scales, multiple-choice, open-ended questions).</a:t>
            </a:r>
          </a:p>
          <a:p>
            <a:r>
              <a:rPr lang="en-US" b="1" dirty="0"/>
              <a:t>Analysis:</a:t>
            </a:r>
            <a:r>
              <a:rPr lang="en-US" dirty="0"/>
              <a:t> Descriptive statistics, comparative analysis (NED vs. SZABIST).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3593" y="4153989"/>
            <a:ext cx="3969921" cy="256721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6081" y="4131923"/>
            <a:ext cx="4306571" cy="2589282"/>
          </a:xfrm>
          <a:prstGeom prst="rect">
            <a:avLst/>
          </a:prstGeom>
        </p:spPr>
      </p:pic>
    </p:spTree>
    <p:extLst>
      <p:ext uri="{BB962C8B-B14F-4D97-AF65-F5344CB8AC3E}">
        <p14:creationId xmlns:p14="http://schemas.microsoft.com/office/powerpoint/2010/main" val="1550235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(Curriculum)</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Outdated Content:</a:t>
            </a:r>
            <a:r>
              <a:rPr lang="en-US" dirty="0"/>
              <a:t> 65% report rare/never updates.</a:t>
            </a:r>
          </a:p>
          <a:p>
            <a:r>
              <a:rPr lang="en-US" b="1" dirty="0"/>
              <a:t>Low Relevance:</a:t>
            </a:r>
            <a:r>
              <a:rPr lang="en-US" dirty="0"/>
              <a:t> Avg. rating 2.8/5 for job market alignment.</a:t>
            </a:r>
          </a:p>
          <a:p>
            <a:r>
              <a:rPr lang="en-US" b="1" dirty="0"/>
              <a:t>SZABIST vs. NED:</a:t>
            </a:r>
            <a:r>
              <a:rPr lang="en-US" dirty="0"/>
              <a:t> SZABIST rated higher (3.1 vs. 2.7).</a:t>
            </a:r>
          </a:p>
          <a:p>
            <a:r>
              <a:rPr lang="en-US" b="1" dirty="0"/>
              <a:t>Student Demand:</a:t>
            </a:r>
            <a:r>
              <a:rPr lang="en-US" dirty="0"/>
              <a:t> AI, </a:t>
            </a:r>
            <a:r>
              <a:rPr lang="en-US" dirty="0" err="1"/>
              <a:t>Blockchain</a:t>
            </a:r>
            <a:r>
              <a:rPr lang="en-US" dirty="0"/>
              <a:t>, DevOps missing.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412" y="4001294"/>
            <a:ext cx="4591691" cy="2819794"/>
          </a:xfrm>
          <a:prstGeom prst="rect">
            <a:avLst/>
          </a:prstGeom>
        </p:spPr>
      </p:pic>
    </p:spTree>
    <p:extLst>
      <p:ext uri="{BB962C8B-B14F-4D97-AF65-F5344CB8AC3E}">
        <p14:creationId xmlns:p14="http://schemas.microsoft.com/office/powerpoint/2010/main" val="41981016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(Faculty &amp; Teaching)</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Faculty Industry Experience:</a:t>
            </a:r>
            <a:r>
              <a:rPr lang="en-US" dirty="0"/>
              <a:t> Avg. 3.1/5.</a:t>
            </a:r>
          </a:p>
          <a:p>
            <a:r>
              <a:rPr lang="en-US" b="1" dirty="0"/>
              <a:t>Theory-Heavy:</a:t>
            </a:r>
            <a:r>
              <a:rPr lang="en-US" dirty="0"/>
              <a:t> 75% say lectures lack practical labs.</a:t>
            </a:r>
          </a:p>
          <a:p>
            <a:r>
              <a:rPr lang="en-US" b="1" dirty="0"/>
              <a:t>SZABIST Advantage:</a:t>
            </a:r>
            <a:r>
              <a:rPr lang="en-US" dirty="0"/>
              <a:t> Faculty rated more helpful (3.4 vs. 3.1).</a:t>
            </a:r>
          </a:p>
          <a:p>
            <a:endParaRPr lang="en-US" dirty="0"/>
          </a:p>
        </p:txBody>
      </p:sp>
    </p:spTree>
    <p:extLst>
      <p:ext uri="{BB962C8B-B14F-4D97-AF65-F5344CB8AC3E}">
        <p14:creationId xmlns:p14="http://schemas.microsoft.com/office/powerpoint/2010/main" val="2620507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(Practical Exposure)</a:t>
            </a:r>
            <a:endParaRPr lang="en-US" dirty="0"/>
          </a:p>
        </p:txBody>
      </p:sp>
      <p:sp>
        <p:nvSpPr>
          <p:cNvPr id="3" name="Content Placeholder 2"/>
          <p:cNvSpPr>
            <a:spLocks noGrp="1"/>
          </p:cNvSpPr>
          <p:nvPr>
            <p:ph idx="1"/>
          </p:nvPr>
        </p:nvSpPr>
        <p:spPr/>
        <p:txBody>
          <a:bodyPr/>
          <a:lstStyle/>
          <a:p>
            <a:r>
              <a:rPr lang="en-US" b="1" dirty="0" err="1"/>
              <a:t>Git</a:t>
            </a:r>
            <a:r>
              <a:rPr lang="en-US" b="1" dirty="0"/>
              <a:t> Proficiency:</a:t>
            </a:r>
            <a:r>
              <a:rPr lang="en-US" dirty="0"/>
              <a:t> Avg. 2.7/5 (60% rate themselves ≤3).</a:t>
            </a:r>
          </a:p>
          <a:p>
            <a:r>
              <a:rPr lang="en-US" b="1" dirty="0"/>
              <a:t>Internships:</a:t>
            </a:r>
            <a:r>
              <a:rPr lang="en-US" dirty="0"/>
              <a:t> 53% completed, but only 55% aligned with studies.</a:t>
            </a:r>
          </a:p>
          <a:p>
            <a:r>
              <a:rPr lang="en-US" b="1" dirty="0"/>
              <a:t>University Support:</a:t>
            </a:r>
            <a:r>
              <a:rPr lang="en-US" dirty="0"/>
              <a:t> 58% received help; 42% found none.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2729" y="3649650"/>
            <a:ext cx="4601217" cy="2772162"/>
          </a:xfrm>
          <a:prstGeom prst="rect">
            <a:avLst/>
          </a:prstGeom>
        </p:spPr>
      </p:pic>
    </p:spTree>
    <p:extLst>
      <p:ext uri="{BB962C8B-B14F-4D97-AF65-F5344CB8AC3E}">
        <p14:creationId xmlns:p14="http://schemas.microsoft.com/office/powerpoint/2010/main" val="29636972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(Entrepreneurship &amp; Confidence)</a:t>
            </a:r>
            <a:endParaRPr lang="en-US" dirty="0"/>
          </a:p>
        </p:txBody>
      </p:sp>
      <p:sp>
        <p:nvSpPr>
          <p:cNvPr id="3" name="Content Placeholder 2"/>
          <p:cNvSpPr>
            <a:spLocks noGrp="1"/>
          </p:cNvSpPr>
          <p:nvPr>
            <p:ph idx="1"/>
          </p:nvPr>
        </p:nvSpPr>
        <p:spPr/>
        <p:txBody>
          <a:bodyPr/>
          <a:lstStyle/>
          <a:p>
            <a:r>
              <a:rPr lang="en-US" b="1" dirty="0"/>
              <a:t>Low Confidence:</a:t>
            </a:r>
            <a:r>
              <a:rPr lang="en-US" dirty="0"/>
              <a:t> Avg. 4.6/10 in job readiness.</a:t>
            </a:r>
          </a:p>
          <a:p>
            <a:r>
              <a:rPr lang="en-US" b="1" dirty="0"/>
              <a:t>Startup Support:</a:t>
            </a:r>
            <a:r>
              <a:rPr lang="en-US" dirty="0"/>
              <a:t> Only 15% tried launching a startup; 47% aware of incubators.</a:t>
            </a:r>
          </a:p>
          <a:p>
            <a:r>
              <a:rPr lang="en-US" b="1" dirty="0"/>
              <a:t>Barriers:</a:t>
            </a:r>
            <a:r>
              <a:rPr lang="en-US" dirty="0"/>
              <a:t> Lack of funding, mentorship, and risk-averse culture.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8378" y="4001294"/>
            <a:ext cx="4572638" cy="2810267"/>
          </a:xfrm>
          <a:prstGeom prst="rect">
            <a:avLst/>
          </a:prstGeom>
        </p:spPr>
      </p:pic>
    </p:spTree>
    <p:extLst>
      <p:ext uri="{BB962C8B-B14F-4D97-AF65-F5344CB8AC3E}">
        <p14:creationId xmlns:p14="http://schemas.microsoft.com/office/powerpoint/2010/main" val="3873382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NED vs. SZABIST Comparison</a:t>
            </a:r>
            <a:r>
              <a:rPr lang="en-US" dirty="0"/>
              <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8359838"/>
              </p:ext>
            </p:extLst>
          </p:nvPr>
        </p:nvGraphicFramePr>
        <p:xfrm>
          <a:off x="838200" y="2839244"/>
          <a:ext cx="10515600" cy="2324100"/>
        </p:xfrm>
        <a:graphic>
          <a:graphicData uri="http://schemas.openxmlformats.org/drawingml/2006/table">
            <a:tbl>
              <a:tblPr>
                <a:tableStyleId>{3C2FFA5D-87B4-456A-9821-1D502468CF0F}</a:tableStyleId>
              </a:tblPr>
              <a:tblGrid>
                <a:gridCol w="3463718">
                  <a:extLst>
                    <a:ext uri="{9D8B030D-6E8A-4147-A177-3AD203B41FA5}">
                      <a16:colId xmlns:a16="http://schemas.microsoft.com/office/drawing/2014/main" val="2660375595"/>
                    </a:ext>
                  </a:extLst>
                </a:gridCol>
                <a:gridCol w="3525941">
                  <a:extLst>
                    <a:ext uri="{9D8B030D-6E8A-4147-A177-3AD203B41FA5}">
                      <a16:colId xmlns:a16="http://schemas.microsoft.com/office/drawing/2014/main" val="3612359471"/>
                    </a:ext>
                  </a:extLst>
                </a:gridCol>
                <a:gridCol w="3525941">
                  <a:extLst>
                    <a:ext uri="{9D8B030D-6E8A-4147-A177-3AD203B41FA5}">
                      <a16:colId xmlns:a16="http://schemas.microsoft.com/office/drawing/2014/main" val="2840442264"/>
                    </a:ext>
                  </a:extLst>
                </a:gridCol>
              </a:tblGrid>
              <a:tr h="0">
                <a:tc>
                  <a:txBody>
                    <a:bodyPr/>
                    <a:lstStyle/>
                    <a:p>
                      <a:pPr algn="l"/>
                      <a:r>
                        <a:rPr lang="en-US">
                          <a:effectLst/>
                        </a:rPr>
                        <a:t>Metric</a:t>
                      </a:r>
                      <a:endParaRPr lang="en-US" b="1">
                        <a:solidFill>
                          <a:schemeClr val="bg1"/>
                        </a:solidFill>
                        <a:effectLst/>
                      </a:endParaRPr>
                    </a:p>
                  </a:txBody>
                  <a:tcPr marR="95250" marT="95250" marB="95250" anchor="ctr"/>
                </a:tc>
                <a:tc>
                  <a:txBody>
                    <a:bodyPr/>
                    <a:lstStyle/>
                    <a:p>
                      <a:pPr algn="l"/>
                      <a:r>
                        <a:rPr lang="en-US">
                          <a:effectLst/>
                        </a:rPr>
                        <a:t>NED</a:t>
                      </a:r>
                      <a:endParaRPr lang="en-US" b="1">
                        <a:solidFill>
                          <a:schemeClr val="bg1"/>
                        </a:solidFill>
                        <a:effectLst/>
                      </a:endParaRPr>
                    </a:p>
                  </a:txBody>
                  <a:tcPr marL="95250" marR="95250" marT="95250" marB="95250" anchor="ctr"/>
                </a:tc>
                <a:tc>
                  <a:txBody>
                    <a:bodyPr/>
                    <a:lstStyle/>
                    <a:p>
                      <a:pPr algn="l"/>
                      <a:r>
                        <a:rPr lang="en-US">
                          <a:effectLst/>
                        </a:rPr>
                        <a:t>SZABIST</a:t>
                      </a:r>
                      <a:endParaRPr lang="en-US" b="1">
                        <a:solidFill>
                          <a:schemeClr val="bg1"/>
                        </a:solidFill>
                        <a:effectLst/>
                      </a:endParaRPr>
                    </a:p>
                  </a:txBody>
                  <a:tcPr marL="95250" marR="95250" marT="95250" marB="95250" anchor="ctr"/>
                </a:tc>
                <a:extLst>
                  <a:ext uri="{0D108BD9-81ED-4DB2-BD59-A6C34878D82A}">
                    <a16:rowId xmlns:a16="http://schemas.microsoft.com/office/drawing/2014/main" val="1265621895"/>
                  </a:ext>
                </a:extLst>
              </a:tr>
              <a:tr h="0">
                <a:tc>
                  <a:txBody>
                    <a:bodyPr/>
                    <a:lstStyle/>
                    <a:p>
                      <a:r>
                        <a:rPr lang="en-US">
                          <a:effectLst/>
                        </a:rPr>
                        <a:t>Curriculum Relevance</a:t>
                      </a:r>
                      <a:endParaRPr lang="en-US">
                        <a:solidFill>
                          <a:schemeClr val="bg1"/>
                        </a:solidFill>
                        <a:effectLst/>
                      </a:endParaRPr>
                    </a:p>
                  </a:txBody>
                  <a:tcPr marR="95250" marT="95250" marB="95250" anchor="ctr"/>
                </a:tc>
                <a:tc>
                  <a:txBody>
                    <a:bodyPr/>
                    <a:lstStyle/>
                    <a:p>
                      <a:r>
                        <a:rPr lang="en-US">
                          <a:effectLst/>
                        </a:rPr>
                        <a:t>2.7</a:t>
                      </a:r>
                      <a:endParaRPr lang="en-US">
                        <a:solidFill>
                          <a:schemeClr val="bg1"/>
                        </a:solidFill>
                        <a:effectLst/>
                      </a:endParaRPr>
                    </a:p>
                  </a:txBody>
                  <a:tcPr marL="95250" marR="95250" marT="95250" marB="95250" anchor="ctr"/>
                </a:tc>
                <a:tc>
                  <a:txBody>
                    <a:bodyPr/>
                    <a:lstStyle/>
                    <a:p>
                      <a:r>
                        <a:rPr lang="en-US">
                          <a:effectLst/>
                        </a:rPr>
                        <a:t>3.1</a:t>
                      </a:r>
                      <a:endParaRPr lang="en-US">
                        <a:solidFill>
                          <a:schemeClr val="bg1"/>
                        </a:solidFill>
                        <a:effectLst/>
                      </a:endParaRPr>
                    </a:p>
                  </a:txBody>
                  <a:tcPr marL="95250" marR="95250" marT="95250" marB="95250" anchor="ctr"/>
                </a:tc>
                <a:extLst>
                  <a:ext uri="{0D108BD9-81ED-4DB2-BD59-A6C34878D82A}">
                    <a16:rowId xmlns:a16="http://schemas.microsoft.com/office/drawing/2014/main" val="624457261"/>
                  </a:ext>
                </a:extLst>
              </a:tr>
              <a:tr h="0">
                <a:tc>
                  <a:txBody>
                    <a:bodyPr/>
                    <a:lstStyle/>
                    <a:p>
                      <a:r>
                        <a:rPr lang="en-US">
                          <a:effectLst/>
                        </a:rPr>
                        <a:t>Faculty Industry Exp.</a:t>
                      </a:r>
                      <a:endParaRPr lang="en-US">
                        <a:solidFill>
                          <a:schemeClr val="bg1"/>
                        </a:solidFill>
                        <a:effectLst/>
                      </a:endParaRPr>
                    </a:p>
                  </a:txBody>
                  <a:tcPr marR="95250" marT="95250" marB="95250" anchor="ctr"/>
                </a:tc>
                <a:tc>
                  <a:txBody>
                    <a:bodyPr/>
                    <a:lstStyle/>
                    <a:p>
                      <a:r>
                        <a:rPr lang="en-US">
                          <a:effectLst/>
                        </a:rPr>
                        <a:t>3.0</a:t>
                      </a:r>
                      <a:endParaRPr lang="en-US">
                        <a:solidFill>
                          <a:schemeClr val="bg1"/>
                        </a:solidFill>
                        <a:effectLst/>
                      </a:endParaRPr>
                    </a:p>
                  </a:txBody>
                  <a:tcPr marL="95250" marR="95250" marT="95250" marB="95250" anchor="ctr"/>
                </a:tc>
                <a:tc>
                  <a:txBody>
                    <a:bodyPr/>
                    <a:lstStyle/>
                    <a:p>
                      <a:r>
                        <a:rPr lang="en-US">
                          <a:effectLst/>
                        </a:rPr>
                        <a:t>3.3</a:t>
                      </a:r>
                      <a:endParaRPr lang="en-US">
                        <a:solidFill>
                          <a:schemeClr val="bg1"/>
                        </a:solidFill>
                        <a:effectLst/>
                      </a:endParaRPr>
                    </a:p>
                  </a:txBody>
                  <a:tcPr marL="95250" marR="95250" marT="95250" marB="95250" anchor="ctr"/>
                </a:tc>
                <a:extLst>
                  <a:ext uri="{0D108BD9-81ED-4DB2-BD59-A6C34878D82A}">
                    <a16:rowId xmlns:a16="http://schemas.microsoft.com/office/drawing/2014/main" val="2936166970"/>
                  </a:ext>
                </a:extLst>
              </a:tr>
              <a:tr h="0">
                <a:tc>
                  <a:txBody>
                    <a:bodyPr/>
                    <a:lstStyle/>
                    <a:p>
                      <a:r>
                        <a:rPr lang="en-US">
                          <a:effectLst/>
                        </a:rPr>
                        <a:t>Internship Support</a:t>
                      </a:r>
                      <a:endParaRPr lang="en-US">
                        <a:solidFill>
                          <a:schemeClr val="bg1"/>
                        </a:solidFill>
                        <a:effectLst/>
                      </a:endParaRPr>
                    </a:p>
                  </a:txBody>
                  <a:tcPr marR="95250" marT="95250" marB="95250" anchor="ctr"/>
                </a:tc>
                <a:tc>
                  <a:txBody>
                    <a:bodyPr/>
                    <a:lstStyle/>
                    <a:p>
                      <a:r>
                        <a:rPr lang="en-US">
                          <a:effectLst/>
                        </a:rPr>
                        <a:t>55%</a:t>
                      </a:r>
                      <a:endParaRPr lang="en-US">
                        <a:solidFill>
                          <a:schemeClr val="bg1"/>
                        </a:solidFill>
                        <a:effectLst/>
                      </a:endParaRPr>
                    </a:p>
                  </a:txBody>
                  <a:tcPr marL="95250" marR="95250" marT="95250" marB="95250" anchor="ctr"/>
                </a:tc>
                <a:tc>
                  <a:txBody>
                    <a:bodyPr/>
                    <a:lstStyle/>
                    <a:p>
                      <a:r>
                        <a:rPr lang="en-US">
                          <a:effectLst/>
                        </a:rPr>
                        <a:t>63%</a:t>
                      </a:r>
                      <a:endParaRPr lang="en-US">
                        <a:solidFill>
                          <a:schemeClr val="bg1"/>
                        </a:solidFill>
                        <a:effectLst/>
                      </a:endParaRPr>
                    </a:p>
                  </a:txBody>
                  <a:tcPr marL="95250" marR="95250" marT="95250" marB="95250" anchor="ctr"/>
                </a:tc>
                <a:extLst>
                  <a:ext uri="{0D108BD9-81ED-4DB2-BD59-A6C34878D82A}">
                    <a16:rowId xmlns:a16="http://schemas.microsoft.com/office/drawing/2014/main" val="695761104"/>
                  </a:ext>
                </a:extLst>
              </a:tr>
              <a:tr h="0">
                <a:tc>
                  <a:txBody>
                    <a:bodyPr/>
                    <a:lstStyle/>
                    <a:p>
                      <a:r>
                        <a:rPr lang="en-US">
                          <a:effectLst/>
                        </a:rPr>
                        <a:t>Confidence (1-10)</a:t>
                      </a:r>
                      <a:endParaRPr lang="en-US">
                        <a:solidFill>
                          <a:schemeClr val="bg1"/>
                        </a:solidFill>
                        <a:effectLst/>
                      </a:endParaRPr>
                    </a:p>
                  </a:txBody>
                  <a:tcPr marR="95250" marT="95250" marB="95250" anchor="ctr"/>
                </a:tc>
                <a:tc>
                  <a:txBody>
                    <a:bodyPr/>
                    <a:lstStyle/>
                    <a:p>
                      <a:r>
                        <a:rPr lang="en-US">
                          <a:effectLst/>
                        </a:rPr>
                        <a:t>4.4</a:t>
                      </a:r>
                      <a:endParaRPr lang="en-US">
                        <a:solidFill>
                          <a:schemeClr val="bg1"/>
                        </a:solidFill>
                        <a:effectLst/>
                      </a:endParaRPr>
                    </a:p>
                  </a:txBody>
                  <a:tcPr marL="95250" marR="95250" marT="95250" marB="95250" anchor="ctr"/>
                </a:tc>
                <a:tc>
                  <a:txBody>
                    <a:bodyPr/>
                    <a:lstStyle/>
                    <a:p>
                      <a:r>
                        <a:rPr lang="en-US" dirty="0">
                          <a:effectLst/>
                        </a:rPr>
                        <a:t>5.1</a:t>
                      </a:r>
                      <a:endParaRPr lang="en-US" dirty="0">
                        <a:solidFill>
                          <a:schemeClr val="bg1"/>
                        </a:solidFill>
                        <a:effectLst/>
                      </a:endParaRPr>
                    </a:p>
                  </a:txBody>
                  <a:tcPr marL="95250" marR="95250" marT="95250" marB="95250" anchor="ctr"/>
                </a:tc>
                <a:extLst>
                  <a:ext uri="{0D108BD9-81ED-4DB2-BD59-A6C34878D82A}">
                    <a16:rowId xmlns:a16="http://schemas.microsoft.com/office/drawing/2014/main" val="1494803783"/>
                  </a:ext>
                </a:extLst>
              </a:tr>
            </a:tbl>
          </a:graphicData>
        </a:graphic>
      </p:graphicFrame>
    </p:spTree>
    <p:extLst>
      <p:ext uri="{BB962C8B-B14F-4D97-AF65-F5344CB8AC3E}">
        <p14:creationId xmlns:p14="http://schemas.microsoft.com/office/powerpoint/2010/main" val="313319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Recommendations (Curriculum)</a:t>
            </a:r>
            <a:endParaRPr lang="en-US" dirty="0"/>
          </a:p>
        </p:txBody>
      </p:sp>
      <p:sp>
        <p:nvSpPr>
          <p:cNvPr id="3" name="Content Placeholder 2"/>
          <p:cNvSpPr>
            <a:spLocks noGrp="1"/>
          </p:cNvSpPr>
          <p:nvPr>
            <p:ph idx="1"/>
          </p:nvPr>
        </p:nvSpPr>
        <p:spPr/>
        <p:txBody>
          <a:bodyPr/>
          <a:lstStyle/>
          <a:p>
            <a:r>
              <a:rPr lang="en-US" b="1" dirty="0"/>
              <a:t>Annual Updates:</a:t>
            </a:r>
            <a:r>
              <a:rPr lang="en-US" dirty="0"/>
              <a:t> Integrate AI, Cloud, DevOps.</a:t>
            </a:r>
          </a:p>
          <a:p>
            <a:r>
              <a:rPr lang="en-US" b="1" dirty="0"/>
              <a:t>Industry Collaboration:</a:t>
            </a:r>
            <a:r>
              <a:rPr lang="en-US" dirty="0"/>
              <a:t> Involve tech firms in syllabus design.</a:t>
            </a:r>
          </a:p>
          <a:p>
            <a:r>
              <a:rPr lang="en-US" b="1" dirty="0"/>
              <a:t>Project-Based Learning:</a:t>
            </a:r>
            <a:r>
              <a:rPr lang="en-US" dirty="0"/>
              <a:t> Replace rote exams with real-world projects.</a:t>
            </a:r>
          </a:p>
          <a:p>
            <a:endParaRPr lang="en-US" dirty="0"/>
          </a:p>
        </p:txBody>
      </p:sp>
    </p:spTree>
    <p:extLst>
      <p:ext uri="{BB962C8B-B14F-4D97-AF65-F5344CB8AC3E}">
        <p14:creationId xmlns:p14="http://schemas.microsoft.com/office/powerpoint/2010/main" val="3226697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 (Faculty &amp; Training)</a:t>
            </a:r>
            <a:endParaRPr lang="en-US" dirty="0"/>
          </a:p>
        </p:txBody>
      </p:sp>
      <p:sp>
        <p:nvSpPr>
          <p:cNvPr id="3" name="Content Placeholder 2"/>
          <p:cNvSpPr>
            <a:spLocks noGrp="1"/>
          </p:cNvSpPr>
          <p:nvPr>
            <p:ph idx="1"/>
          </p:nvPr>
        </p:nvSpPr>
        <p:spPr/>
        <p:txBody>
          <a:bodyPr/>
          <a:lstStyle/>
          <a:p>
            <a:r>
              <a:rPr lang="en-US" b="1" dirty="0"/>
              <a:t>Hire Industry Professionals:</a:t>
            </a:r>
            <a:r>
              <a:rPr lang="en-US" dirty="0"/>
              <a:t> Prioritize faculty with coding experience.</a:t>
            </a:r>
          </a:p>
          <a:p>
            <a:r>
              <a:rPr lang="en-US" b="1" dirty="0"/>
              <a:t>Faculty Upskilling:</a:t>
            </a:r>
            <a:r>
              <a:rPr lang="en-US" dirty="0"/>
              <a:t> Sponsor certifications/workshops.</a:t>
            </a:r>
          </a:p>
          <a:p>
            <a:r>
              <a:rPr lang="en-US" b="1" dirty="0"/>
              <a:t>Hands-On Labs:</a:t>
            </a:r>
            <a:r>
              <a:rPr lang="en-US" dirty="0"/>
              <a:t> Modernize labs with </a:t>
            </a:r>
            <a:r>
              <a:rPr lang="en-US" dirty="0" err="1"/>
              <a:t>Git</a:t>
            </a:r>
            <a:r>
              <a:rPr lang="en-US" dirty="0"/>
              <a:t>, CI/CD, cloud platforms.</a:t>
            </a:r>
          </a:p>
        </p:txBody>
      </p:sp>
    </p:spTree>
    <p:extLst>
      <p:ext uri="{BB962C8B-B14F-4D97-AF65-F5344CB8AC3E}">
        <p14:creationId xmlns:p14="http://schemas.microsoft.com/office/powerpoint/2010/main" val="2256338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 (Entrepreneurship &amp; Careers)</a:t>
            </a:r>
            <a:endParaRPr lang="en-US" dirty="0"/>
          </a:p>
        </p:txBody>
      </p:sp>
      <p:sp>
        <p:nvSpPr>
          <p:cNvPr id="3" name="Content Placeholder 2"/>
          <p:cNvSpPr>
            <a:spLocks noGrp="1"/>
          </p:cNvSpPr>
          <p:nvPr>
            <p:ph idx="1"/>
          </p:nvPr>
        </p:nvSpPr>
        <p:spPr/>
        <p:txBody>
          <a:bodyPr/>
          <a:lstStyle/>
          <a:p>
            <a:r>
              <a:rPr lang="en-US" b="1" dirty="0"/>
              <a:t>Expand Incubators:</a:t>
            </a:r>
            <a:r>
              <a:rPr lang="en-US" dirty="0"/>
              <a:t> Funding, mentorship, networking.</a:t>
            </a:r>
          </a:p>
          <a:p>
            <a:r>
              <a:rPr lang="en-US" b="1" dirty="0"/>
              <a:t>Mandatory Internships:</a:t>
            </a:r>
            <a:r>
              <a:rPr lang="en-US" dirty="0"/>
              <a:t> Partner with companies for placements.</a:t>
            </a:r>
          </a:p>
          <a:p>
            <a:r>
              <a:rPr lang="en-US" b="1" dirty="0"/>
              <a:t>Career Centers:</a:t>
            </a:r>
            <a:r>
              <a:rPr lang="en-US" dirty="0"/>
              <a:t> Resume workshops, mock interviews, job fairs.</a:t>
            </a:r>
          </a:p>
        </p:txBody>
      </p:sp>
    </p:spTree>
    <p:extLst>
      <p:ext uri="{BB962C8B-B14F-4D97-AF65-F5344CB8AC3E}">
        <p14:creationId xmlns:p14="http://schemas.microsoft.com/office/powerpoint/2010/main" val="419458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US" dirty="0"/>
          </a:p>
        </p:txBody>
      </p:sp>
      <p:sp>
        <p:nvSpPr>
          <p:cNvPr id="3" name="Content Placeholder 2"/>
          <p:cNvSpPr>
            <a:spLocks noGrp="1"/>
          </p:cNvSpPr>
          <p:nvPr>
            <p:ph idx="1"/>
          </p:nvPr>
        </p:nvSpPr>
        <p:spPr/>
        <p:txBody>
          <a:bodyPr/>
          <a:lstStyle/>
          <a:p>
            <a:r>
              <a:rPr lang="en-US" dirty="0"/>
              <a:t>Universities must bridge the gap between academia and industry.</a:t>
            </a:r>
          </a:p>
          <a:p>
            <a:r>
              <a:rPr lang="en-US" dirty="0"/>
              <a:t>Urgent reforms needed in curriculum, faculty training, and practical exposure.</a:t>
            </a:r>
          </a:p>
          <a:p>
            <a:r>
              <a:rPr lang="en-US" dirty="0"/>
              <a:t>Stronger industry partnerships can boost graduate employability and innovation.</a:t>
            </a:r>
          </a:p>
        </p:txBody>
      </p:sp>
    </p:spTree>
    <p:extLst>
      <p:ext uri="{BB962C8B-B14F-4D97-AF65-F5344CB8AC3E}">
        <p14:creationId xmlns:p14="http://schemas.microsoft.com/office/powerpoint/2010/main" val="325001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246</Words>
  <Application>Microsoft Office PowerPoint</Application>
  <PresentationFormat>Widescreen</PresentationFormat>
  <Paragraphs>67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Why Pakistan Struggles to Build Tech Giants: Investigating the Role of University Education  A Student Perspective  Authors: Umair Solangi, Hamza bin Jawed Department: Computer Science, SZABIST Karachi    How effectively does university education in Pakistan equip computer science graduates with the practical skills and knowledge required to develop scalable tech products, and what are the key gaps between academic training and industry demands?   </vt:lpstr>
      <vt:lpstr>Introduction </vt:lpstr>
      <vt:lpstr>Research Questions </vt:lpstr>
      <vt:lpstr>Methodology </vt:lpstr>
      <vt:lpstr>Key Findings (Curriculum) </vt:lpstr>
      <vt:lpstr>Key Findings (Faculty &amp; Teaching) </vt:lpstr>
      <vt:lpstr>Key Findings (Practical Exposure)</vt:lpstr>
      <vt:lpstr>Key Findings (Entrepreneurship &amp; Confidence)</vt:lpstr>
      <vt:lpstr>NED vs. SZABIST Comparison </vt:lpstr>
      <vt:lpstr> Recommendations (Curriculum)</vt:lpstr>
      <vt:lpstr>Recommendations (Faculty &amp; Training)</vt:lpstr>
      <vt:lpstr>Recommendations (Entrepreneurship &amp; Careers)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Pakistan Struggles to Build Tech Giants: Investigating the Role of University Education  A Student Perspective  Authors: Umair Solangi, Hamza bin Jawed Department: Computer Science, SZABIST Karachi    How effectively does university education in Pakistan equip computer science graduates with the practical skills and knowledge required to develop scalable tech products, and what are the key gaps between academic training and industry demands?</dc:title>
  <dc:creator>UmairSolangiCEO</dc:creator>
  <cp:lastModifiedBy>UmairSolangiCEO</cp:lastModifiedBy>
  <cp:revision>4</cp:revision>
  <dcterms:created xsi:type="dcterms:W3CDTF">2025-06-02T18:41:17Z</dcterms:created>
  <dcterms:modified xsi:type="dcterms:W3CDTF">2025-06-02T19:11:52Z</dcterms:modified>
</cp:coreProperties>
</file>